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1" r:id="rId7"/>
    <p:sldId id="263" r:id="rId8"/>
    <p:sldId id="268" r:id="rId9"/>
    <p:sldId id="261" r:id="rId10"/>
    <p:sldId id="262" r:id="rId11"/>
    <p:sldId id="264" r:id="rId12"/>
    <p:sldId id="266" r:id="rId13"/>
    <p:sldId id="265" r:id="rId14"/>
    <p:sldId id="267" r:id="rId15"/>
    <p:sldId id="269" r:id="rId16"/>
    <p:sldId id="270"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70" d="100"/>
          <a:sy n="70" d="100"/>
        </p:scale>
        <p:origin x="4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7B981A3-04FB-4F0A-8D5D-C7498AE25337}" type="datetimeFigureOut">
              <a:rPr lang="en-US" smtClean="0"/>
              <a:t>3/23/2020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04277A-A9B9-48F0-B074-C2F786A46229}" type="slidenum">
              <a:rPr lang="en-US" smtClean="0"/>
              <a:t>‹#›</a:t>
            </a:fld>
            <a:endParaRPr lang="en-US"/>
          </a:p>
        </p:txBody>
      </p:sp>
    </p:spTree>
    <p:extLst>
      <p:ext uri="{BB962C8B-B14F-4D97-AF65-F5344CB8AC3E}">
        <p14:creationId xmlns:p14="http://schemas.microsoft.com/office/powerpoint/2010/main" val="1756365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7B981A3-04FB-4F0A-8D5D-C7498AE25337}" type="datetimeFigureOut">
              <a:rPr lang="en-US" smtClean="0"/>
              <a:t>3/23/2020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04277A-A9B9-48F0-B074-C2F786A46229}" type="slidenum">
              <a:rPr lang="en-US" smtClean="0"/>
              <a:t>‹#›</a:t>
            </a:fld>
            <a:endParaRPr lang="en-US"/>
          </a:p>
        </p:txBody>
      </p:sp>
    </p:spTree>
    <p:extLst>
      <p:ext uri="{BB962C8B-B14F-4D97-AF65-F5344CB8AC3E}">
        <p14:creationId xmlns:p14="http://schemas.microsoft.com/office/powerpoint/2010/main" val="3980619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7B981A3-04FB-4F0A-8D5D-C7498AE25337}" type="datetimeFigureOut">
              <a:rPr lang="en-US" smtClean="0"/>
              <a:t>3/23/2020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04277A-A9B9-48F0-B074-C2F786A46229}" type="slidenum">
              <a:rPr lang="en-US" smtClean="0"/>
              <a:t>‹#›</a:t>
            </a:fld>
            <a:endParaRPr lang="en-US"/>
          </a:p>
        </p:txBody>
      </p:sp>
    </p:spTree>
    <p:extLst>
      <p:ext uri="{BB962C8B-B14F-4D97-AF65-F5344CB8AC3E}">
        <p14:creationId xmlns:p14="http://schemas.microsoft.com/office/powerpoint/2010/main" val="3598904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7B981A3-04FB-4F0A-8D5D-C7498AE25337}" type="datetimeFigureOut">
              <a:rPr lang="en-US" smtClean="0"/>
              <a:t>3/23/2020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04277A-A9B9-48F0-B074-C2F786A46229}" type="slidenum">
              <a:rPr lang="en-US" smtClean="0"/>
              <a:t>‹#›</a:t>
            </a:fld>
            <a:endParaRPr lang="en-US"/>
          </a:p>
        </p:txBody>
      </p:sp>
    </p:spTree>
    <p:extLst>
      <p:ext uri="{BB962C8B-B14F-4D97-AF65-F5344CB8AC3E}">
        <p14:creationId xmlns:p14="http://schemas.microsoft.com/office/powerpoint/2010/main" val="142432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7B981A3-04FB-4F0A-8D5D-C7498AE25337}" type="datetimeFigureOut">
              <a:rPr lang="en-US" smtClean="0"/>
              <a:t>3/23/2020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404277A-A9B9-48F0-B074-C2F786A46229}" type="slidenum">
              <a:rPr lang="en-US" smtClean="0"/>
              <a:t>‹#›</a:t>
            </a:fld>
            <a:endParaRPr lang="en-US"/>
          </a:p>
        </p:txBody>
      </p:sp>
    </p:spTree>
    <p:extLst>
      <p:ext uri="{BB962C8B-B14F-4D97-AF65-F5344CB8AC3E}">
        <p14:creationId xmlns:p14="http://schemas.microsoft.com/office/powerpoint/2010/main" val="1986909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7B981A3-04FB-4F0A-8D5D-C7498AE25337}" type="datetimeFigureOut">
              <a:rPr lang="en-US" smtClean="0"/>
              <a:t>3/23/2020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404277A-A9B9-48F0-B074-C2F786A46229}" type="slidenum">
              <a:rPr lang="en-US" smtClean="0"/>
              <a:t>‹#›</a:t>
            </a:fld>
            <a:endParaRPr lang="en-US"/>
          </a:p>
        </p:txBody>
      </p:sp>
    </p:spTree>
    <p:extLst>
      <p:ext uri="{BB962C8B-B14F-4D97-AF65-F5344CB8AC3E}">
        <p14:creationId xmlns:p14="http://schemas.microsoft.com/office/powerpoint/2010/main" val="3919239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B981A3-04FB-4F0A-8D5D-C7498AE25337}" type="datetimeFigureOut">
              <a:rPr lang="en-US" smtClean="0"/>
              <a:t>3/23/2020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404277A-A9B9-48F0-B074-C2F786A46229}" type="slidenum">
              <a:rPr lang="en-US" smtClean="0"/>
              <a:t>‹#›</a:t>
            </a:fld>
            <a:endParaRPr lang="en-US"/>
          </a:p>
        </p:txBody>
      </p:sp>
    </p:spTree>
    <p:extLst>
      <p:ext uri="{BB962C8B-B14F-4D97-AF65-F5344CB8AC3E}">
        <p14:creationId xmlns:p14="http://schemas.microsoft.com/office/powerpoint/2010/main" val="3808423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7B981A3-04FB-4F0A-8D5D-C7498AE25337}" type="datetimeFigureOut">
              <a:rPr lang="en-US" smtClean="0"/>
              <a:t>3/23/2020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04277A-A9B9-48F0-B074-C2F786A46229}" type="slidenum">
              <a:rPr lang="en-US" smtClean="0"/>
              <a:t>‹#›</a:t>
            </a:fld>
            <a:endParaRPr lang="en-US"/>
          </a:p>
        </p:txBody>
      </p:sp>
    </p:spTree>
    <p:extLst>
      <p:ext uri="{BB962C8B-B14F-4D97-AF65-F5344CB8AC3E}">
        <p14:creationId xmlns:p14="http://schemas.microsoft.com/office/powerpoint/2010/main" val="3886919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7B981A3-04FB-4F0A-8D5D-C7498AE25337}" type="datetimeFigureOut">
              <a:rPr lang="en-US" smtClean="0"/>
              <a:t>3/23/2020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04277A-A9B9-48F0-B074-C2F786A46229}" type="slidenum">
              <a:rPr lang="en-US" smtClean="0"/>
              <a:t>‹#›</a:t>
            </a:fld>
            <a:endParaRPr lang="en-US"/>
          </a:p>
        </p:txBody>
      </p:sp>
    </p:spTree>
    <p:extLst>
      <p:ext uri="{BB962C8B-B14F-4D97-AF65-F5344CB8AC3E}">
        <p14:creationId xmlns:p14="http://schemas.microsoft.com/office/powerpoint/2010/main" val="3993243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7B981A3-04FB-4F0A-8D5D-C7498AE25337}" type="datetimeFigureOut">
              <a:rPr lang="en-US" smtClean="0"/>
              <a:t>3/23/2020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04277A-A9B9-48F0-B074-C2F786A46229}" type="slidenum">
              <a:rPr lang="en-US" smtClean="0"/>
              <a:t>‹#›</a:t>
            </a:fld>
            <a:endParaRPr lang="en-US"/>
          </a:p>
        </p:txBody>
      </p:sp>
    </p:spTree>
    <p:extLst>
      <p:ext uri="{BB962C8B-B14F-4D97-AF65-F5344CB8AC3E}">
        <p14:creationId xmlns:p14="http://schemas.microsoft.com/office/powerpoint/2010/main" val="10009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7B981A3-04FB-4F0A-8D5D-C7498AE25337}" type="datetimeFigureOut">
              <a:rPr lang="en-US" smtClean="0"/>
              <a:t>3/23/2020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04277A-A9B9-48F0-B074-C2F786A46229}" type="slidenum">
              <a:rPr lang="en-US" smtClean="0"/>
              <a:t>‹#›</a:t>
            </a:fld>
            <a:endParaRPr lang="en-US"/>
          </a:p>
        </p:txBody>
      </p:sp>
    </p:spTree>
    <p:extLst>
      <p:ext uri="{BB962C8B-B14F-4D97-AF65-F5344CB8AC3E}">
        <p14:creationId xmlns:p14="http://schemas.microsoft.com/office/powerpoint/2010/main" val="3151751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B981A3-04FB-4F0A-8D5D-C7498AE25337}" type="datetimeFigureOut">
              <a:rPr lang="en-US" smtClean="0"/>
              <a:t>3/23/2020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04277A-A9B9-48F0-B074-C2F786A46229}" type="slidenum">
              <a:rPr lang="en-US" smtClean="0"/>
              <a:t>‹#›</a:t>
            </a:fld>
            <a:endParaRPr lang="en-US"/>
          </a:p>
        </p:txBody>
      </p:sp>
    </p:spTree>
    <p:extLst>
      <p:ext uri="{BB962C8B-B14F-4D97-AF65-F5344CB8AC3E}">
        <p14:creationId xmlns:p14="http://schemas.microsoft.com/office/powerpoint/2010/main" val="14269693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24000" y="675862"/>
            <a:ext cx="7953955" cy="5256398"/>
          </a:xfrm>
          <a:prstGeom prst="rect">
            <a:avLst/>
          </a:prstGeom>
        </p:spPr>
      </p:pic>
      <p:sp>
        <p:nvSpPr>
          <p:cNvPr id="2" name="Title 1"/>
          <p:cNvSpPr>
            <a:spLocks noGrp="1"/>
          </p:cNvSpPr>
          <p:nvPr>
            <p:ph type="ctrTitle"/>
          </p:nvPr>
        </p:nvSpPr>
        <p:spPr>
          <a:xfrm>
            <a:off x="1335819" y="803082"/>
            <a:ext cx="9332181" cy="5573864"/>
          </a:xfrm>
        </p:spPr>
        <p:txBody>
          <a:bodyPr>
            <a:normAutofit/>
          </a:bodyPr>
          <a:lstStyle/>
          <a:p>
            <a:r>
              <a:rPr lang="en-US" sz="7300" b="1" dirty="0" smtClean="0">
                <a:latin typeface="Garamond" panose="02020404030301010803" pitchFamily="18" charset="0"/>
              </a:rPr>
              <a:t/>
            </a:r>
            <a:br>
              <a:rPr lang="en-US" sz="7300" b="1" dirty="0" smtClean="0">
                <a:latin typeface="Garamond" panose="02020404030301010803" pitchFamily="18" charset="0"/>
              </a:rPr>
            </a:br>
            <a:r>
              <a:rPr lang="en-US" sz="7300" b="1" dirty="0">
                <a:latin typeface="Garamond" panose="02020404030301010803" pitchFamily="18" charset="0"/>
              </a:rPr>
              <a:t/>
            </a:r>
            <a:br>
              <a:rPr lang="en-US" sz="7300" b="1" dirty="0">
                <a:latin typeface="Garamond" panose="02020404030301010803" pitchFamily="18" charset="0"/>
              </a:rPr>
            </a:br>
            <a:r>
              <a:rPr lang="en-US" sz="7300" b="1" dirty="0" smtClean="0">
                <a:latin typeface="Garamond" panose="02020404030301010803" pitchFamily="18" charset="0"/>
              </a:rPr>
              <a:t/>
            </a:r>
            <a:br>
              <a:rPr lang="en-US" sz="7300" b="1" dirty="0" smtClean="0">
                <a:latin typeface="Garamond" panose="02020404030301010803" pitchFamily="18" charset="0"/>
              </a:rPr>
            </a:br>
            <a:r>
              <a:rPr lang="en-US" dirty="0"/>
              <a:t/>
            </a:r>
            <a:br>
              <a:rPr lang="en-US" dirty="0"/>
            </a:br>
            <a:endParaRPr lang="en-US" dirty="0"/>
          </a:p>
        </p:txBody>
      </p:sp>
    </p:spTree>
    <p:extLst>
      <p:ext uri="{BB962C8B-B14F-4D97-AF65-F5344CB8AC3E}">
        <p14:creationId xmlns:p14="http://schemas.microsoft.com/office/powerpoint/2010/main" val="17916882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681536" y="265635"/>
            <a:ext cx="9476199" cy="5632311"/>
          </a:xfrm>
          <a:prstGeom prst="rect">
            <a:avLst/>
          </a:prstGeom>
        </p:spPr>
        <p:txBody>
          <a:bodyPr wrap="square">
            <a:spAutoFit/>
          </a:bodyPr>
          <a:lstStyle/>
          <a:p>
            <a:pPr algn="ctr"/>
            <a:r>
              <a:rPr lang="en-US" sz="7200" b="1" dirty="0" smtClean="0">
                <a:latin typeface="Garamond" panose="02020404030301010803" pitchFamily="18" charset="0"/>
              </a:rPr>
              <a:t>Current and Emerging</a:t>
            </a:r>
            <a:br>
              <a:rPr lang="en-US" sz="7200" b="1" dirty="0" smtClean="0">
                <a:latin typeface="Garamond" panose="02020404030301010803" pitchFamily="18" charset="0"/>
              </a:rPr>
            </a:br>
            <a:r>
              <a:rPr lang="en-US" sz="7200" b="1" dirty="0" smtClean="0">
                <a:latin typeface="Garamond" panose="02020404030301010803" pitchFamily="18" charset="0"/>
              </a:rPr>
              <a:t/>
            </a:r>
            <a:br>
              <a:rPr lang="en-US" sz="7200" b="1" dirty="0" smtClean="0">
                <a:latin typeface="Garamond" panose="02020404030301010803" pitchFamily="18" charset="0"/>
              </a:rPr>
            </a:br>
            <a:r>
              <a:rPr lang="en-US" sz="7200" b="1" dirty="0" smtClean="0">
                <a:latin typeface="Garamond" panose="02020404030301010803" pitchFamily="18" charset="0"/>
              </a:rPr>
              <a:t> ML/TF Risks in </a:t>
            </a:r>
            <a:br>
              <a:rPr lang="en-US" sz="7200" b="1" dirty="0" smtClean="0">
                <a:latin typeface="Garamond" panose="02020404030301010803" pitchFamily="18" charset="0"/>
              </a:rPr>
            </a:br>
            <a:r>
              <a:rPr lang="en-US" sz="7200" b="1" dirty="0" smtClean="0">
                <a:latin typeface="Garamond" panose="02020404030301010803" pitchFamily="18" charset="0"/>
              </a:rPr>
              <a:t/>
            </a:r>
            <a:br>
              <a:rPr lang="en-US" sz="7200" b="1" dirty="0" smtClean="0">
                <a:latin typeface="Garamond" panose="02020404030301010803" pitchFamily="18" charset="0"/>
              </a:rPr>
            </a:br>
            <a:r>
              <a:rPr lang="en-US" sz="7200" b="1" dirty="0" smtClean="0">
                <a:latin typeface="Garamond" panose="02020404030301010803" pitchFamily="18" charset="0"/>
              </a:rPr>
              <a:t>Ghana. </a:t>
            </a:r>
            <a:r>
              <a:rPr lang="en-US" sz="6600" dirty="0" smtClean="0">
                <a:latin typeface="Garamond" panose="02020404030301010803" pitchFamily="18" charset="0"/>
              </a:rPr>
              <a:t>	</a:t>
            </a:r>
            <a:endParaRPr lang="en-US" sz="6600" dirty="0">
              <a:latin typeface="Garamond" panose="02020404030301010803" pitchFamily="18" charset="0"/>
            </a:endParaRPr>
          </a:p>
        </p:txBody>
      </p:sp>
    </p:spTree>
    <p:extLst>
      <p:ext uri="{BB962C8B-B14F-4D97-AF65-F5344CB8AC3E}">
        <p14:creationId xmlns:p14="http://schemas.microsoft.com/office/powerpoint/2010/main" val="40945461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Garamond" panose="02020404030301010803" pitchFamily="18" charset="0"/>
              </a:rPr>
              <a:t>INTRODUCTION</a:t>
            </a:r>
            <a:endParaRPr lang="en-US" b="1" dirty="0">
              <a:latin typeface="Garamond" panose="02020404030301010803" pitchFamily="18" charset="0"/>
            </a:endParaRPr>
          </a:p>
        </p:txBody>
      </p:sp>
      <p:sp>
        <p:nvSpPr>
          <p:cNvPr id="3" name="Content Placeholder 2"/>
          <p:cNvSpPr>
            <a:spLocks noGrp="1"/>
          </p:cNvSpPr>
          <p:nvPr>
            <p:ph idx="1"/>
          </p:nvPr>
        </p:nvSpPr>
        <p:spPr/>
        <p:txBody>
          <a:bodyPr>
            <a:normAutofit/>
          </a:bodyPr>
          <a:lstStyle/>
          <a:p>
            <a:pPr marL="0" indent="0" algn="just">
              <a:buNone/>
            </a:pPr>
            <a:r>
              <a:rPr lang="en-US" sz="4000" dirty="0" smtClean="0">
                <a:latin typeface="Garamond" panose="02020404030301010803" pitchFamily="18" charset="0"/>
              </a:rPr>
              <a:t>Ghana is gradually </a:t>
            </a:r>
            <a:r>
              <a:rPr lang="en-US" sz="4000" dirty="0" err="1" smtClean="0">
                <a:latin typeface="Garamond" panose="02020404030301010803" pitchFamily="18" charset="0"/>
              </a:rPr>
              <a:t>realising</a:t>
            </a:r>
            <a:r>
              <a:rPr lang="en-US" sz="4000" dirty="0" smtClean="0">
                <a:latin typeface="Garamond" panose="02020404030301010803" pitchFamily="18" charset="0"/>
              </a:rPr>
              <a:t> the impact of ML/TF risks, on the economic growth of the country and also </a:t>
            </a:r>
            <a:r>
              <a:rPr lang="en-US" sz="4000" dirty="0" err="1" smtClean="0">
                <a:latin typeface="Garamond" panose="02020404030301010803" pitchFamily="18" charset="0"/>
              </a:rPr>
              <a:t>realising</a:t>
            </a:r>
            <a:r>
              <a:rPr lang="en-US" sz="4000" dirty="0" smtClean="0">
                <a:latin typeface="Garamond" panose="02020404030301010803" pitchFamily="18" charset="0"/>
              </a:rPr>
              <a:t> its role as an increasingly relevant player in the global fight against ML/TF. </a:t>
            </a:r>
          </a:p>
          <a:p>
            <a:pPr marL="0" indent="0" algn="just">
              <a:buNone/>
            </a:pPr>
            <a:endParaRPr lang="en-US" sz="4000" dirty="0">
              <a:latin typeface="Garamond" panose="02020404030301010803" pitchFamily="18" charset="0"/>
            </a:endParaRPr>
          </a:p>
          <a:p>
            <a:pPr marL="0" indent="0" algn="just">
              <a:buNone/>
            </a:pPr>
            <a:r>
              <a:rPr lang="en-US" sz="4000" dirty="0" smtClean="0">
                <a:latin typeface="Garamond" panose="02020404030301010803" pitchFamily="18" charset="0"/>
              </a:rPr>
              <a:t>There is a potential threat of terrorist financing in Ghana.</a:t>
            </a:r>
            <a:endParaRPr lang="en-US" sz="3600" dirty="0"/>
          </a:p>
        </p:txBody>
      </p:sp>
    </p:spTree>
    <p:extLst>
      <p:ext uri="{BB962C8B-B14F-4D97-AF65-F5344CB8AC3E}">
        <p14:creationId xmlns:p14="http://schemas.microsoft.com/office/powerpoint/2010/main" val="8550429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NATIONAL RISK ASSESSMENT </a:t>
            </a:r>
            <a:endParaRPr lang="en-US" b="1" dirty="0"/>
          </a:p>
        </p:txBody>
      </p:sp>
      <p:sp>
        <p:nvSpPr>
          <p:cNvPr id="3" name="Content Placeholder 2"/>
          <p:cNvSpPr>
            <a:spLocks noGrp="1"/>
          </p:cNvSpPr>
          <p:nvPr>
            <p:ph idx="1"/>
          </p:nvPr>
        </p:nvSpPr>
        <p:spPr/>
        <p:txBody>
          <a:bodyPr>
            <a:normAutofit/>
          </a:bodyPr>
          <a:lstStyle/>
          <a:p>
            <a:r>
              <a:rPr lang="en-US" sz="3600" dirty="0" smtClean="0">
                <a:latin typeface="Garamond" panose="02020404030301010803" pitchFamily="18" charset="0"/>
              </a:rPr>
              <a:t>A recent report of recruitment of Ghanaians into the fold of ISIS is a matter of concern. </a:t>
            </a:r>
          </a:p>
          <a:p>
            <a:endParaRPr lang="en-US" sz="3600" dirty="0">
              <a:latin typeface="Garamond" panose="02020404030301010803" pitchFamily="18" charset="0"/>
            </a:endParaRPr>
          </a:p>
          <a:p>
            <a:r>
              <a:rPr lang="en-US" sz="3600" dirty="0" smtClean="0">
                <a:latin typeface="Garamond" panose="02020404030301010803" pitchFamily="18" charset="0"/>
              </a:rPr>
              <a:t>Reports of seven suspects arrested with weapons and rounds of ammunition, indicates a necessity for LEAs to thoroughly investigate, not only the crime, but the source of funding associated with the commission of the crime. </a:t>
            </a:r>
            <a:endParaRPr lang="en-US" sz="3600" dirty="0">
              <a:latin typeface="Garamond" panose="02020404030301010803" pitchFamily="18" charset="0"/>
            </a:endParaRPr>
          </a:p>
          <a:p>
            <a:endParaRPr lang="en-US" dirty="0" smtClean="0"/>
          </a:p>
        </p:txBody>
      </p:sp>
    </p:spTree>
    <p:extLst>
      <p:ext uri="{BB962C8B-B14F-4D97-AF65-F5344CB8AC3E}">
        <p14:creationId xmlns:p14="http://schemas.microsoft.com/office/powerpoint/2010/main" val="32400570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NATIONAL RISK ASSESSMENT (2018)</a:t>
            </a:r>
            <a:endParaRPr lang="en-US" b="1" dirty="0"/>
          </a:p>
        </p:txBody>
      </p:sp>
      <p:sp>
        <p:nvSpPr>
          <p:cNvPr id="3" name="Content Placeholder 2"/>
          <p:cNvSpPr>
            <a:spLocks noGrp="1"/>
          </p:cNvSpPr>
          <p:nvPr>
            <p:ph idx="1"/>
          </p:nvPr>
        </p:nvSpPr>
        <p:spPr/>
        <p:txBody>
          <a:bodyPr>
            <a:normAutofit/>
          </a:bodyPr>
          <a:lstStyle/>
          <a:p>
            <a:pPr algn="just"/>
            <a:r>
              <a:rPr lang="en-US" sz="3600" dirty="0" smtClean="0">
                <a:latin typeface="Garamond" panose="02020404030301010803" pitchFamily="18" charset="0"/>
              </a:rPr>
              <a:t>Geographically, out of the ten (10) regions, the Greater Accra, Ashanti and the Western Regions are considered to be the most vulnerable to Money Laundering, whereas the Upper East, Upper West, Northern and the Greater Accra Regions are considered the most susceptible to terrorist activities and financing.</a:t>
            </a:r>
          </a:p>
          <a:p>
            <a:endParaRPr lang="en-US" dirty="0"/>
          </a:p>
          <a:p>
            <a:endParaRPr lang="en-US" b="1" dirty="0"/>
          </a:p>
          <a:p>
            <a:endParaRPr lang="en-US" b="1" dirty="0" smtClean="0"/>
          </a:p>
          <a:p>
            <a:pPr marL="0" indent="0">
              <a:buNone/>
            </a:pPr>
            <a:endParaRPr lang="en-US" b="1" dirty="0" smtClean="0"/>
          </a:p>
          <a:p>
            <a:endParaRPr lang="en-US" dirty="0"/>
          </a:p>
        </p:txBody>
      </p:sp>
    </p:spTree>
    <p:extLst>
      <p:ext uri="{BB962C8B-B14F-4D97-AF65-F5344CB8AC3E}">
        <p14:creationId xmlns:p14="http://schemas.microsoft.com/office/powerpoint/2010/main" val="33167019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NATIONAL RISK ASSESSMENT (2018)</a:t>
            </a:r>
            <a:endParaRPr lang="en-US" b="1" dirty="0"/>
          </a:p>
        </p:txBody>
      </p:sp>
      <p:sp>
        <p:nvSpPr>
          <p:cNvPr id="3" name="Content Placeholder 2"/>
          <p:cNvSpPr>
            <a:spLocks noGrp="1"/>
          </p:cNvSpPr>
          <p:nvPr>
            <p:ph idx="1"/>
          </p:nvPr>
        </p:nvSpPr>
        <p:spPr>
          <a:xfrm>
            <a:off x="482885" y="1825625"/>
            <a:ext cx="10870915" cy="4760110"/>
          </a:xfrm>
        </p:spPr>
        <p:txBody>
          <a:bodyPr>
            <a:noAutofit/>
          </a:bodyPr>
          <a:lstStyle/>
          <a:p>
            <a:pPr marL="0" indent="0" algn="just">
              <a:buNone/>
            </a:pPr>
            <a:r>
              <a:rPr lang="en-US" sz="4000" dirty="0" smtClean="0">
                <a:latin typeface="Garamond" panose="02020404030301010803" pitchFamily="18" charset="0"/>
              </a:rPr>
              <a:t>Education on ML/TF should be a priority of the country. All stakeholders must be encouraged to take part in awareness creation and capacity building. </a:t>
            </a:r>
          </a:p>
          <a:p>
            <a:pPr marL="0" indent="0" algn="just">
              <a:buNone/>
            </a:pPr>
            <a:endParaRPr lang="en-US" sz="4000" dirty="0" smtClean="0">
              <a:latin typeface="Garamond" panose="02020404030301010803" pitchFamily="18" charset="0"/>
            </a:endParaRPr>
          </a:p>
          <a:p>
            <a:pPr marL="0" indent="0" algn="just">
              <a:buNone/>
            </a:pPr>
            <a:r>
              <a:rPr lang="en-US" sz="4000" dirty="0" smtClean="0">
                <a:latin typeface="Garamond" panose="02020404030301010803" pitchFamily="18" charset="0"/>
              </a:rPr>
              <a:t>This should follow a two-pronged approach; a renewed policy focus that would result in both effective administrative and criminal sanctions regime.</a:t>
            </a:r>
            <a:endParaRPr lang="en-US" sz="4000" dirty="0">
              <a:latin typeface="Garamond" panose="02020404030301010803" pitchFamily="18" charset="0"/>
            </a:endParaRPr>
          </a:p>
        </p:txBody>
      </p:sp>
    </p:spTree>
    <p:extLst>
      <p:ext uri="{BB962C8B-B14F-4D97-AF65-F5344CB8AC3E}">
        <p14:creationId xmlns:p14="http://schemas.microsoft.com/office/powerpoint/2010/main" val="15613088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90372"/>
          </a:xfrm>
        </p:spPr>
        <p:txBody>
          <a:bodyPr>
            <a:normAutofit fontScale="90000"/>
          </a:bodyPr>
          <a:lstStyle/>
          <a:p>
            <a:r>
              <a:rPr lang="en-US" b="1" dirty="0" smtClean="0">
                <a:latin typeface="Garamond" panose="02020404030301010803" pitchFamily="18" charset="0"/>
              </a:rPr>
              <a:t/>
            </a:r>
            <a:br>
              <a:rPr lang="en-US" b="1" dirty="0" smtClean="0">
                <a:latin typeface="Garamond" panose="02020404030301010803" pitchFamily="18" charset="0"/>
              </a:rPr>
            </a:br>
            <a:r>
              <a:rPr lang="en-US" b="1" dirty="0" smtClean="0">
                <a:latin typeface="Garamond" panose="02020404030301010803" pitchFamily="18" charset="0"/>
              </a:rPr>
              <a:t>Current and Emerging ML/TF Risks in Ghana. </a:t>
            </a:r>
            <a:br>
              <a:rPr lang="en-US" b="1" dirty="0" smtClean="0">
                <a:latin typeface="Garamond" panose="02020404030301010803" pitchFamily="18" charset="0"/>
              </a:rPr>
            </a:br>
            <a:r>
              <a:rPr lang="en-US" dirty="0" smtClean="0"/>
              <a:t>	</a:t>
            </a:r>
          </a:p>
        </p:txBody>
      </p:sp>
      <p:sp>
        <p:nvSpPr>
          <p:cNvPr id="3" name="Content Placeholder 2"/>
          <p:cNvSpPr>
            <a:spLocks noGrp="1"/>
          </p:cNvSpPr>
          <p:nvPr>
            <p:ph idx="1"/>
          </p:nvPr>
        </p:nvSpPr>
        <p:spPr>
          <a:xfrm>
            <a:off x="575353" y="1099335"/>
            <a:ext cx="10993347" cy="5506948"/>
          </a:xfrm>
        </p:spPr>
        <p:txBody>
          <a:bodyPr>
            <a:noAutofit/>
          </a:bodyPr>
          <a:lstStyle/>
          <a:p>
            <a:pPr marL="0" indent="0">
              <a:buNone/>
            </a:pPr>
            <a:r>
              <a:rPr lang="en-US" sz="3200" dirty="0" smtClean="0">
                <a:latin typeface="Garamond" panose="02020404030301010803" pitchFamily="18" charset="0"/>
              </a:rPr>
              <a:t>Some of the emerging ML/TF </a:t>
            </a:r>
            <a:r>
              <a:rPr lang="en-US" sz="3200" dirty="0" smtClean="0">
                <a:latin typeface="Garamond" panose="02020404030301010803" pitchFamily="18" charset="0"/>
              </a:rPr>
              <a:t>Ricks </a:t>
            </a:r>
            <a:r>
              <a:rPr lang="en-US" sz="3200" dirty="0" smtClean="0">
                <a:latin typeface="Garamond" panose="02020404030301010803" pitchFamily="18" charset="0"/>
              </a:rPr>
              <a:t>in Ghana includes;</a:t>
            </a:r>
            <a:endParaRPr lang="en-US" sz="3200" dirty="0">
              <a:latin typeface="Garamond" panose="02020404030301010803" pitchFamily="18" charset="0"/>
            </a:endParaRPr>
          </a:p>
          <a:p>
            <a:r>
              <a:rPr lang="en-US" sz="3200" dirty="0" smtClean="0">
                <a:latin typeface="Garamond" panose="02020404030301010803" pitchFamily="18" charset="0"/>
              </a:rPr>
              <a:t>Fraud, </a:t>
            </a:r>
          </a:p>
          <a:p>
            <a:r>
              <a:rPr lang="en-US" sz="3200" dirty="0" smtClean="0">
                <a:latin typeface="Garamond" panose="02020404030301010803" pitchFamily="18" charset="0"/>
              </a:rPr>
              <a:t>stealing, </a:t>
            </a:r>
          </a:p>
          <a:p>
            <a:r>
              <a:rPr lang="en-US" sz="3200" dirty="0" smtClean="0">
                <a:latin typeface="Garamond" panose="02020404030301010803" pitchFamily="18" charset="0"/>
              </a:rPr>
              <a:t>robbery and tax evasion are the most likely forms of predicate offences in Ghana. </a:t>
            </a:r>
          </a:p>
          <a:p>
            <a:pPr marL="0" indent="0">
              <a:buNone/>
            </a:pPr>
            <a:r>
              <a:rPr lang="en-US" sz="3200" dirty="0" smtClean="0">
                <a:latin typeface="Garamond" panose="02020404030301010803" pitchFamily="18" charset="0"/>
              </a:rPr>
              <a:t>The financial crimes scope also includes </a:t>
            </a:r>
          </a:p>
          <a:p>
            <a:r>
              <a:rPr lang="en-US" sz="3200" dirty="0" smtClean="0">
                <a:latin typeface="Garamond" panose="02020404030301010803" pitchFamily="18" charset="0"/>
              </a:rPr>
              <a:t>drug trafficking, </a:t>
            </a:r>
          </a:p>
          <a:p>
            <a:r>
              <a:rPr lang="en-US" sz="3200" dirty="0" smtClean="0">
                <a:latin typeface="Garamond" panose="02020404030301010803" pitchFamily="18" charset="0"/>
              </a:rPr>
              <a:t>bribery, </a:t>
            </a:r>
          </a:p>
          <a:p>
            <a:r>
              <a:rPr lang="en-US" sz="3200" dirty="0" smtClean="0">
                <a:latin typeface="Garamond" panose="02020404030301010803" pitchFamily="18" charset="0"/>
              </a:rPr>
              <a:t>corruption and </a:t>
            </a:r>
          </a:p>
          <a:p>
            <a:r>
              <a:rPr lang="en-US" sz="3200" dirty="0" smtClean="0">
                <a:latin typeface="Garamond" panose="02020404030301010803" pitchFamily="18" charset="0"/>
              </a:rPr>
              <a:t>smuggling</a:t>
            </a:r>
            <a:endParaRPr lang="en-US" sz="3200" dirty="0">
              <a:latin typeface="Garamond" panose="02020404030301010803" pitchFamily="18" charset="0"/>
            </a:endParaRPr>
          </a:p>
        </p:txBody>
      </p:sp>
    </p:spTree>
    <p:extLst>
      <p:ext uri="{BB962C8B-B14F-4D97-AF65-F5344CB8AC3E}">
        <p14:creationId xmlns:p14="http://schemas.microsoft.com/office/powerpoint/2010/main" val="2353345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91064"/>
          </a:xfrm>
        </p:spPr>
        <p:txBody>
          <a:bodyPr/>
          <a:lstStyle/>
          <a:p>
            <a:r>
              <a:rPr lang="en-US" b="1" dirty="0" smtClean="0">
                <a:latin typeface="Garamond" panose="02020404030301010803" pitchFamily="18" charset="0"/>
              </a:rPr>
              <a:t>Fraud</a:t>
            </a:r>
            <a:endParaRPr lang="en-US" b="1" dirty="0"/>
          </a:p>
        </p:txBody>
      </p:sp>
      <p:sp>
        <p:nvSpPr>
          <p:cNvPr id="3" name="Content Placeholder 2"/>
          <p:cNvSpPr>
            <a:spLocks noGrp="1"/>
          </p:cNvSpPr>
          <p:nvPr>
            <p:ph idx="1"/>
          </p:nvPr>
        </p:nvSpPr>
        <p:spPr/>
        <p:txBody>
          <a:bodyPr>
            <a:normAutofit/>
          </a:bodyPr>
          <a:lstStyle/>
          <a:p>
            <a:pPr marL="0" indent="0" algn="just">
              <a:buNone/>
            </a:pPr>
            <a:r>
              <a:rPr lang="en-US" sz="3600" dirty="0" smtClean="0">
                <a:latin typeface="Garamond" panose="02020404030301010803" pitchFamily="18" charset="0"/>
              </a:rPr>
              <a:t>Financial intelligence Centre statistics shows that over 95% of suspicious transactions reports received from 2010 to date were reports on Fraud</a:t>
            </a:r>
          </a:p>
          <a:p>
            <a:pPr algn="just"/>
            <a:r>
              <a:rPr lang="en-US" sz="3600" dirty="0" smtClean="0">
                <a:latin typeface="Garamond" panose="02020404030301010803" pitchFamily="18" charset="0"/>
              </a:rPr>
              <a:t>Cybercrime in the form of romance fraud,</a:t>
            </a:r>
          </a:p>
          <a:p>
            <a:pPr algn="just"/>
            <a:r>
              <a:rPr lang="en-US" sz="3600" dirty="0" smtClean="0">
                <a:latin typeface="Garamond" panose="02020404030301010803" pitchFamily="18" charset="0"/>
              </a:rPr>
              <a:t>Advanced fee fraud, </a:t>
            </a:r>
          </a:p>
          <a:p>
            <a:pPr algn="just"/>
            <a:r>
              <a:rPr lang="en-US" sz="3600" dirty="0" smtClean="0">
                <a:latin typeface="Garamond" panose="02020404030301010803" pitchFamily="18" charset="0"/>
              </a:rPr>
              <a:t>Gold scams </a:t>
            </a:r>
          </a:p>
          <a:p>
            <a:pPr marL="0" indent="0" algn="just">
              <a:buNone/>
            </a:pPr>
            <a:r>
              <a:rPr lang="en-US" sz="3600" dirty="0" smtClean="0">
                <a:latin typeface="Garamond" panose="02020404030301010803" pitchFamily="18" charset="0"/>
              </a:rPr>
              <a:t>are the most commonly committed offences in Ghana</a:t>
            </a:r>
          </a:p>
          <a:p>
            <a:pPr algn="just"/>
            <a:endParaRPr lang="en-US" dirty="0"/>
          </a:p>
        </p:txBody>
      </p:sp>
    </p:spTree>
    <p:extLst>
      <p:ext uri="{BB962C8B-B14F-4D97-AF65-F5344CB8AC3E}">
        <p14:creationId xmlns:p14="http://schemas.microsoft.com/office/powerpoint/2010/main" val="26541334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US" b="1" dirty="0" smtClean="0">
                <a:latin typeface="Garamond" panose="02020404030301010803" pitchFamily="18" charset="0"/>
              </a:rPr>
              <a:t>Romance fraud</a:t>
            </a:r>
            <a:endParaRPr lang="en-US" b="1" dirty="0">
              <a:latin typeface="Garamond" panose="02020404030301010803"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Garamond" panose="02020404030301010803" pitchFamily="18" charset="0"/>
              </a:rPr>
              <a:t>Romance fraud is committed by persons claiming to live or work in Ghana and establishing a relationship with someone aboard over the internet. Once that relationship has been established, the fraudster will ask for money for living expenses, travel expenses or visa cost. </a:t>
            </a:r>
          </a:p>
          <a:p>
            <a:pPr algn="just"/>
            <a:r>
              <a:rPr lang="en-US" dirty="0" smtClean="0">
                <a:latin typeface="Garamond" panose="02020404030301010803" pitchFamily="18" charset="0"/>
              </a:rPr>
              <a:t>Sometimes a hospital or a doctor’s telephone number is provided to say that the friend has suffered an accident and therefore needs immediate financial assistance to cover medical bills. </a:t>
            </a:r>
          </a:p>
          <a:p>
            <a:pPr algn="just"/>
            <a:r>
              <a:rPr lang="en-US" dirty="0" smtClean="0">
                <a:latin typeface="Garamond" panose="02020404030301010803" pitchFamily="18" charset="0"/>
              </a:rPr>
              <a:t>Perpetrators misrepresent themselves by providing false identities to victims. The goal of this is to obtain as much money as possible from the victims. </a:t>
            </a:r>
          </a:p>
        </p:txBody>
      </p:sp>
    </p:spTree>
    <p:extLst>
      <p:ext uri="{BB962C8B-B14F-4D97-AF65-F5344CB8AC3E}">
        <p14:creationId xmlns:p14="http://schemas.microsoft.com/office/powerpoint/2010/main" val="37080315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Garamond" panose="02020404030301010803" pitchFamily="18" charset="0"/>
              </a:rPr>
              <a:t>Advanced fee fraud</a:t>
            </a:r>
          </a:p>
        </p:txBody>
      </p:sp>
      <p:sp>
        <p:nvSpPr>
          <p:cNvPr id="3" name="Content Placeholder 2"/>
          <p:cNvSpPr>
            <a:spLocks noGrp="1"/>
          </p:cNvSpPr>
          <p:nvPr>
            <p:ph idx="1"/>
          </p:nvPr>
        </p:nvSpPr>
        <p:spPr>
          <a:xfrm>
            <a:off x="838200" y="1825624"/>
            <a:ext cx="10515600" cy="4832029"/>
          </a:xfrm>
        </p:spPr>
        <p:txBody>
          <a:bodyPr>
            <a:normAutofit fontScale="77500" lnSpcReduction="20000"/>
          </a:bodyPr>
          <a:lstStyle/>
          <a:p>
            <a:pPr algn="just"/>
            <a:r>
              <a:rPr lang="en-US" sz="4600" dirty="0" smtClean="0">
                <a:latin typeface="Garamond" panose="02020404030301010803" pitchFamily="18" charset="0"/>
              </a:rPr>
              <a:t>Advanced fee fraud are scams usually conducted using the internet (email, social media etc.) and involves the pre-payment for non-existent service to be rendered to the victim in future. </a:t>
            </a:r>
          </a:p>
          <a:p>
            <a:pPr algn="just"/>
            <a:r>
              <a:rPr lang="en-US" sz="4600" dirty="0" smtClean="0">
                <a:latin typeface="Garamond" panose="02020404030301010803" pitchFamily="18" charset="0"/>
              </a:rPr>
              <a:t>These unknown individuals promise a business scheme or deal that would yield bigger and immediate financial returns. </a:t>
            </a:r>
          </a:p>
          <a:p>
            <a:pPr marL="0" indent="0" algn="just">
              <a:buNone/>
            </a:pPr>
            <a:endParaRPr lang="en-US" sz="4600" dirty="0">
              <a:latin typeface="Garamond" panose="02020404030301010803" pitchFamily="18" charset="0"/>
            </a:endParaRPr>
          </a:p>
          <a:p>
            <a:pPr algn="just"/>
            <a:r>
              <a:rPr lang="en-US" sz="4600" dirty="0" smtClean="0">
                <a:latin typeface="Garamond" panose="02020404030301010803" pitchFamily="18" charset="0"/>
              </a:rPr>
              <a:t>The purpose of the scam is simply to extort money from the victim. This scheme is common among resident and non-resident persons.</a:t>
            </a:r>
          </a:p>
          <a:p>
            <a:endParaRPr lang="en-US" dirty="0"/>
          </a:p>
        </p:txBody>
      </p:sp>
    </p:spTree>
    <p:extLst>
      <p:ext uri="{BB962C8B-B14F-4D97-AF65-F5344CB8AC3E}">
        <p14:creationId xmlns:p14="http://schemas.microsoft.com/office/powerpoint/2010/main" val="39844267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Garamond" panose="02020404030301010803" pitchFamily="18" charset="0"/>
              </a:rPr>
              <a:t>Gold scams</a:t>
            </a:r>
          </a:p>
        </p:txBody>
      </p:sp>
      <p:sp>
        <p:nvSpPr>
          <p:cNvPr id="3" name="Content Placeholder 2"/>
          <p:cNvSpPr>
            <a:spLocks noGrp="1"/>
          </p:cNvSpPr>
          <p:nvPr>
            <p:ph idx="1"/>
          </p:nvPr>
        </p:nvSpPr>
        <p:spPr>
          <a:xfrm>
            <a:off x="838200" y="1825624"/>
            <a:ext cx="10515600" cy="4934771"/>
          </a:xfrm>
        </p:spPr>
        <p:txBody>
          <a:bodyPr>
            <a:normAutofit fontScale="70000" lnSpcReduction="20000"/>
          </a:bodyPr>
          <a:lstStyle/>
          <a:p>
            <a:pPr algn="just"/>
            <a:r>
              <a:rPr lang="en-US" sz="4300" dirty="0" smtClean="0">
                <a:latin typeface="Garamond" panose="02020404030301010803" pitchFamily="18" charset="0"/>
              </a:rPr>
              <a:t>Another fraud scheme is gold scams. Ghana has a reputation for its gold production, which dates as far back as the 15th century. </a:t>
            </a:r>
            <a:endParaRPr lang="en-US" sz="4300" dirty="0" smtClean="0">
              <a:latin typeface="Garamond" panose="02020404030301010803" pitchFamily="18" charset="0"/>
            </a:endParaRPr>
          </a:p>
          <a:p>
            <a:pPr algn="just"/>
            <a:r>
              <a:rPr lang="en-US" sz="4300" dirty="0">
                <a:latin typeface="Garamond" panose="02020404030301010803" pitchFamily="18" charset="0"/>
              </a:rPr>
              <a:t>Small-scale mining was illegal in the country. </a:t>
            </a:r>
            <a:r>
              <a:rPr lang="en-US" sz="4300" dirty="0" smtClean="0">
                <a:latin typeface="Garamond" panose="02020404030301010803" pitchFamily="18" charset="0"/>
              </a:rPr>
              <a:t>Until 1986 </a:t>
            </a:r>
            <a:r>
              <a:rPr lang="en-US" sz="4300" dirty="0">
                <a:latin typeface="Garamond" panose="02020404030301010803" pitchFamily="18" charset="0"/>
              </a:rPr>
              <a:t>when the Provisional National </a:t>
            </a:r>
            <a:r>
              <a:rPr lang="en-US" sz="4300" dirty="0" err="1">
                <a:latin typeface="Garamond" panose="02020404030301010803" pitchFamily="18" charset="0"/>
              </a:rPr>
              <a:t>Defence</a:t>
            </a:r>
            <a:r>
              <a:rPr lang="en-US" sz="4300" dirty="0">
                <a:latin typeface="Garamond" panose="02020404030301010803" pitchFamily="18" charset="0"/>
              </a:rPr>
              <a:t> </a:t>
            </a:r>
            <a:r>
              <a:rPr lang="en-US" sz="4300" dirty="0" smtClean="0">
                <a:latin typeface="Garamond" panose="02020404030301010803" pitchFamily="18" charset="0"/>
              </a:rPr>
              <a:t>Council (PNDC</a:t>
            </a:r>
            <a:r>
              <a:rPr lang="en-US" sz="4300" dirty="0">
                <a:latin typeface="Garamond" panose="02020404030301010803" pitchFamily="18" charset="0"/>
              </a:rPr>
              <a:t>) government paved the way for </a:t>
            </a:r>
            <a:r>
              <a:rPr lang="en-US" sz="4300" dirty="0" smtClean="0">
                <a:latin typeface="Garamond" panose="02020404030301010803" pitchFamily="18" charset="0"/>
              </a:rPr>
              <a:t>people in </a:t>
            </a:r>
            <a:r>
              <a:rPr lang="en-US" sz="4300" dirty="0">
                <a:latin typeface="Garamond" panose="02020404030301010803" pitchFamily="18" charset="0"/>
              </a:rPr>
              <a:t>mining communities to mine gold to aid </a:t>
            </a:r>
            <a:r>
              <a:rPr lang="en-US" sz="4300" dirty="0" smtClean="0">
                <a:latin typeface="Garamond" panose="02020404030301010803" pitchFamily="18" charset="0"/>
              </a:rPr>
              <a:t>rural development </a:t>
            </a:r>
            <a:r>
              <a:rPr lang="en-US" sz="4300" dirty="0">
                <a:latin typeface="Garamond" panose="02020404030301010803" pitchFamily="18" charset="0"/>
              </a:rPr>
              <a:t>and address unemployment.</a:t>
            </a:r>
          </a:p>
          <a:p>
            <a:pPr algn="just"/>
            <a:endParaRPr lang="en-US" sz="3500" dirty="0" smtClean="0">
              <a:latin typeface="Garamond" panose="02020404030301010803" pitchFamily="18" charset="0"/>
            </a:endParaRPr>
          </a:p>
          <a:p>
            <a:pPr algn="just"/>
            <a:r>
              <a:rPr lang="en-US" sz="4300" dirty="0" smtClean="0">
                <a:latin typeface="Garamond" panose="02020404030301010803" pitchFamily="18" charset="0"/>
              </a:rPr>
              <a:t>However, this decision rather resulted to an increase in illegal mining activities. All manner of persons and activities including; </a:t>
            </a:r>
          </a:p>
          <a:p>
            <a:pPr marL="0" indent="0" algn="just">
              <a:buNone/>
            </a:pPr>
            <a:r>
              <a:rPr lang="en-US" sz="4300" dirty="0" smtClean="0">
                <a:latin typeface="Garamond" panose="02020404030301010803" pitchFamily="18" charset="0"/>
              </a:rPr>
              <a:t>1.	exploitation of businessmen by </a:t>
            </a:r>
            <a:r>
              <a:rPr lang="en-US" sz="4300" dirty="0" smtClean="0">
                <a:latin typeface="Garamond" panose="02020404030301010803" pitchFamily="18" charset="0"/>
              </a:rPr>
              <a:t>chiefs/traditional </a:t>
            </a:r>
            <a:r>
              <a:rPr lang="en-US" sz="4300" dirty="0" smtClean="0">
                <a:latin typeface="Garamond" panose="02020404030301010803" pitchFamily="18" charset="0"/>
              </a:rPr>
              <a:t>	authorities, </a:t>
            </a:r>
          </a:p>
          <a:p>
            <a:pPr algn="just"/>
            <a:endParaRPr lang="en-US" sz="3500" dirty="0"/>
          </a:p>
        </p:txBody>
      </p:sp>
    </p:spTree>
    <p:extLst>
      <p:ext uri="{BB962C8B-B14F-4D97-AF65-F5344CB8AC3E}">
        <p14:creationId xmlns:p14="http://schemas.microsoft.com/office/powerpoint/2010/main" val="13035941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Garamond" panose="02020404030301010803" pitchFamily="18" charset="0"/>
              </a:rPr>
              <a:t>Gold scams</a:t>
            </a:r>
          </a:p>
        </p:txBody>
      </p:sp>
      <p:sp>
        <p:nvSpPr>
          <p:cNvPr id="3" name="Content Placeholder 2"/>
          <p:cNvSpPr>
            <a:spLocks noGrp="1"/>
          </p:cNvSpPr>
          <p:nvPr>
            <p:ph idx="1"/>
          </p:nvPr>
        </p:nvSpPr>
        <p:spPr/>
        <p:txBody>
          <a:bodyPr/>
          <a:lstStyle/>
          <a:p>
            <a:pPr marL="0" indent="0" algn="just">
              <a:buNone/>
            </a:pPr>
            <a:r>
              <a:rPr lang="en-US" dirty="0" smtClean="0"/>
              <a:t>2.	</a:t>
            </a:r>
            <a:r>
              <a:rPr lang="en-US" sz="3600" dirty="0">
                <a:latin typeface="Garamond" panose="02020404030301010803" pitchFamily="18" charset="0"/>
              </a:rPr>
              <a:t>non</a:t>
            </a:r>
            <a:r>
              <a:rPr lang="en-US" sz="3600" dirty="0" smtClean="0">
                <a:latin typeface="Garamond" panose="02020404030301010803" pitchFamily="18" charset="0"/>
              </a:rPr>
              <a:t>-diligent work by the District Assemblies, </a:t>
            </a:r>
          </a:p>
          <a:p>
            <a:pPr marL="0" indent="0" algn="just">
              <a:buNone/>
            </a:pPr>
            <a:r>
              <a:rPr lang="en-US" sz="3600" dirty="0" smtClean="0">
                <a:latin typeface="Garamond" panose="02020404030301010803" pitchFamily="18" charset="0"/>
              </a:rPr>
              <a:t>3.	collusion between some Government Officials and 	fraudsters, </a:t>
            </a:r>
          </a:p>
          <a:p>
            <a:pPr marL="0" indent="0" algn="just">
              <a:buNone/>
            </a:pPr>
            <a:r>
              <a:rPr lang="en-US" sz="3600" dirty="0" smtClean="0">
                <a:latin typeface="Garamond" panose="02020404030301010803" pitchFamily="18" charset="0"/>
              </a:rPr>
              <a:t>4.	proliferation of small arms to protect gold 	concessions, </a:t>
            </a:r>
          </a:p>
          <a:p>
            <a:pPr marL="0" indent="0" algn="just">
              <a:buNone/>
            </a:pPr>
            <a:r>
              <a:rPr lang="en-US" sz="3600" dirty="0" smtClean="0">
                <a:latin typeface="Garamond" panose="02020404030301010803" pitchFamily="18" charset="0"/>
              </a:rPr>
              <a:t>5.	gullibility of foreigners, non-enforcement of the 	relevant laws, 	greed 	of foreigners were at play</a:t>
            </a:r>
          </a:p>
          <a:p>
            <a:pPr algn="just"/>
            <a:endParaRPr lang="en-US" dirty="0">
              <a:latin typeface="Garamond" panose="02020404030301010803" pitchFamily="18" charset="0"/>
            </a:endParaRPr>
          </a:p>
        </p:txBody>
      </p:sp>
    </p:spTree>
    <p:extLst>
      <p:ext uri="{BB962C8B-B14F-4D97-AF65-F5344CB8AC3E}">
        <p14:creationId xmlns:p14="http://schemas.microsoft.com/office/powerpoint/2010/main" val="38013072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8545"/>
            <a:ext cx="10515600" cy="1325563"/>
          </a:xfrm>
        </p:spPr>
        <p:txBody>
          <a:bodyPr>
            <a:normAutofit/>
          </a:bodyPr>
          <a:lstStyle/>
          <a:p>
            <a:r>
              <a:rPr lang="en-US" b="1" dirty="0">
                <a:latin typeface="Garamond" panose="02020404030301010803" pitchFamily="18" charset="0"/>
              </a:rPr>
              <a:t>Gold scams</a:t>
            </a:r>
          </a:p>
        </p:txBody>
      </p:sp>
      <p:sp>
        <p:nvSpPr>
          <p:cNvPr id="3" name="Content Placeholder 2"/>
          <p:cNvSpPr>
            <a:spLocks noGrp="1"/>
          </p:cNvSpPr>
          <p:nvPr>
            <p:ph idx="1"/>
          </p:nvPr>
        </p:nvSpPr>
        <p:spPr>
          <a:xfrm>
            <a:off x="838199" y="1363287"/>
            <a:ext cx="10997630" cy="4934771"/>
          </a:xfrm>
        </p:spPr>
        <p:txBody>
          <a:bodyPr>
            <a:noAutofit/>
          </a:bodyPr>
          <a:lstStyle/>
          <a:p>
            <a:pPr algn="just"/>
            <a:r>
              <a:rPr lang="en-US" sz="3600" dirty="0" smtClean="0">
                <a:latin typeface="Garamond" panose="02020404030301010803" pitchFamily="18" charset="0"/>
              </a:rPr>
              <a:t>As a result of the above, a number of schemes and scams were used to defraud unsuspecting victims especially foreigners through internet scam, fake documentation, use of names of high level individuals in the country, use of fake websites and advance fee fraud.</a:t>
            </a:r>
          </a:p>
          <a:p>
            <a:pPr marL="0" indent="0" algn="just">
              <a:buNone/>
            </a:pPr>
            <a:r>
              <a:rPr lang="en-US" sz="3600" dirty="0" smtClean="0">
                <a:latin typeface="Garamond" panose="02020404030301010803" pitchFamily="18" charset="0"/>
              </a:rPr>
              <a:t> </a:t>
            </a:r>
          </a:p>
          <a:p>
            <a:pPr algn="just"/>
            <a:r>
              <a:rPr lang="en-US" sz="3600" dirty="0" smtClean="0">
                <a:latin typeface="Garamond" panose="02020404030301010803" pitchFamily="18" charset="0"/>
              </a:rPr>
              <a:t>Gold scam cases have become a common type of fraud reported to law enforcement agencies resulting in loss of millions of dollars to the state and victims.</a:t>
            </a:r>
            <a:endParaRPr lang="en-US" sz="3600" dirty="0">
              <a:latin typeface="Garamond" panose="02020404030301010803" pitchFamily="18" charset="0"/>
            </a:endParaRPr>
          </a:p>
        </p:txBody>
      </p:sp>
    </p:spTree>
    <p:extLst>
      <p:ext uri="{BB962C8B-B14F-4D97-AF65-F5344CB8AC3E}">
        <p14:creationId xmlns:p14="http://schemas.microsoft.com/office/powerpoint/2010/main" val="36179097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Garamond" panose="02020404030301010803" pitchFamily="18" charset="0"/>
              </a:rPr>
              <a:t>STEALING (THEFT)</a:t>
            </a:r>
            <a:endParaRPr lang="en-US" b="1" dirty="0">
              <a:latin typeface="Garamond" panose="02020404030301010803" pitchFamily="18" charset="0"/>
            </a:endParaRPr>
          </a:p>
        </p:txBody>
      </p:sp>
      <p:sp>
        <p:nvSpPr>
          <p:cNvPr id="3" name="Content Placeholder 2"/>
          <p:cNvSpPr>
            <a:spLocks noGrp="1"/>
          </p:cNvSpPr>
          <p:nvPr>
            <p:ph idx="1"/>
          </p:nvPr>
        </p:nvSpPr>
        <p:spPr/>
        <p:txBody>
          <a:bodyPr>
            <a:noAutofit/>
          </a:bodyPr>
          <a:lstStyle/>
          <a:p>
            <a:pPr marL="0" indent="0" algn="just">
              <a:buNone/>
            </a:pPr>
            <a:r>
              <a:rPr lang="en-US" sz="4400" dirty="0" smtClean="0"/>
              <a:t>Stealing is defined by section 125 of the Criminal and other offences Act, 1960, (Act 29)</a:t>
            </a:r>
            <a:endParaRPr lang="en-US" sz="4400" dirty="0"/>
          </a:p>
          <a:p>
            <a:pPr marL="0" indent="0" algn="just">
              <a:buNone/>
            </a:pPr>
            <a:r>
              <a:rPr lang="en-US" sz="4400" dirty="0" smtClean="0"/>
              <a:t>as ‘‘a person steals if he dishonestly </a:t>
            </a:r>
            <a:r>
              <a:rPr lang="en-US" sz="4400" dirty="0" smtClean="0"/>
              <a:t>appropriates </a:t>
            </a:r>
            <a:r>
              <a:rPr lang="en-US" sz="4400" dirty="0" smtClean="0"/>
              <a:t>a thing of which that person is not the owner’’</a:t>
            </a:r>
            <a:endParaRPr lang="en-US" sz="4400" dirty="0"/>
          </a:p>
        </p:txBody>
      </p:sp>
    </p:spTree>
    <p:extLst>
      <p:ext uri="{BB962C8B-B14F-4D97-AF65-F5344CB8AC3E}">
        <p14:creationId xmlns:p14="http://schemas.microsoft.com/office/powerpoint/2010/main" val="982969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Garamond" panose="02020404030301010803" pitchFamily="18" charset="0"/>
              </a:rPr>
              <a:t>STEALING (THEFT)</a:t>
            </a:r>
            <a:endParaRPr lang="en-US" dirty="0"/>
          </a:p>
        </p:txBody>
      </p:sp>
      <p:sp>
        <p:nvSpPr>
          <p:cNvPr id="3" name="Content Placeholder 2"/>
          <p:cNvSpPr>
            <a:spLocks noGrp="1"/>
          </p:cNvSpPr>
          <p:nvPr>
            <p:ph idx="1"/>
          </p:nvPr>
        </p:nvSpPr>
        <p:spPr>
          <a:xfrm>
            <a:off x="256853" y="1353012"/>
            <a:ext cx="11794733" cy="5068335"/>
          </a:xfrm>
        </p:spPr>
        <p:txBody>
          <a:bodyPr>
            <a:noAutofit/>
          </a:bodyPr>
          <a:lstStyle/>
          <a:p>
            <a:r>
              <a:rPr lang="en-US" sz="3200" dirty="0" smtClean="0">
                <a:latin typeface="Garamond" panose="02020404030301010803" pitchFamily="18" charset="0"/>
              </a:rPr>
              <a:t>State officials in connivance with suppliers, contractors and bank officials create elaborate schemes to steal monies designated for government contracts and projects. </a:t>
            </a:r>
          </a:p>
          <a:p>
            <a:endParaRPr lang="en-US" sz="3200" dirty="0">
              <a:latin typeface="Garamond" panose="02020404030301010803" pitchFamily="18" charset="0"/>
            </a:endParaRPr>
          </a:p>
          <a:p>
            <a:r>
              <a:rPr lang="en-US" sz="3200" dirty="0" smtClean="0">
                <a:latin typeface="Garamond" panose="02020404030301010803" pitchFamily="18" charset="0"/>
              </a:rPr>
              <a:t>Another conduit through which state’s funds are stolen is the insertion of non-existent public sector employees on the government payroll. </a:t>
            </a:r>
          </a:p>
          <a:p>
            <a:pPr marL="0" indent="0">
              <a:buNone/>
            </a:pPr>
            <a:r>
              <a:rPr lang="en-US" sz="3200" dirty="0" smtClean="0">
                <a:latin typeface="Garamond" panose="02020404030301010803" pitchFamily="18" charset="0"/>
              </a:rPr>
              <a:t>Padding of salaries, or what is generally known as ‘‘ghost names’’ on the public pay roll cost the country Thirty billion Ghana </a:t>
            </a:r>
            <a:r>
              <a:rPr lang="en-US" sz="3200" dirty="0" err="1" smtClean="0">
                <a:latin typeface="Garamond" panose="02020404030301010803" pitchFamily="18" charset="0"/>
              </a:rPr>
              <a:t>Cedis</a:t>
            </a:r>
            <a:r>
              <a:rPr lang="en-US" sz="3200" dirty="0" smtClean="0">
                <a:latin typeface="Garamond" panose="02020404030301010803" pitchFamily="18" charset="0"/>
              </a:rPr>
              <a:t> (GH¢30,000,000,000.00) (US$ 8,000,000,000.00Equiv) annually. </a:t>
            </a:r>
            <a:endParaRPr lang="en-US" sz="3200" dirty="0">
              <a:latin typeface="Garamond" panose="02020404030301010803" pitchFamily="18" charset="0"/>
            </a:endParaRPr>
          </a:p>
        </p:txBody>
      </p:sp>
    </p:spTree>
    <p:extLst>
      <p:ext uri="{BB962C8B-B14F-4D97-AF65-F5344CB8AC3E}">
        <p14:creationId xmlns:p14="http://schemas.microsoft.com/office/powerpoint/2010/main" val="42396028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Garamond" panose="02020404030301010803" pitchFamily="18" charset="0"/>
              </a:rPr>
              <a:t>BRIBERY AND CORRUPTION</a:t>
            </a:r>
            <a:endParaRPr lang="en-US" b="1" dirty="0">
              <a:latin typeface="Garamond" panose="02020404030301010803" pitchFamily="18" charset="0"/>
            </a:endParaRPr>
          </a:p>
        </p:txBody>
      </p:sp>
      <p:sp>
        <p:nvSpPr>
          <p:cNvPr id="3" name="Content Placeholder 2"/>
          <p:cNvSpPr>
            <a:spLocks noGrp="1"/>
          </p:cNvSpPr>
          <p:nvPr>
            <p:ph idx="1"/>
          </p:nvPr>
        </p:nvSpPr>
        <p:spPr/>
        <p:txBody>
          <a:bodyPr>
            <a:normAutofit/>
          </a:bodyPr>
          <a:lstStyle/>
          <a:p>
            <a:pPr marL="0" indent="0">
              <a:buNone/>
            </a:pPr>
            <a:r>
              <a:rPr lang="en-US" sz="3600" dirty="0" smtClean="0">
                <a:latin typeface="Garamond" panose="02020404030301010803" pitchFamily="18" charset="0"/>
              </a:rPr>
              <a:t>Bribery and Corruption are both predicate offences under the Criminal and Other Offences Act, 1960, (Act 29). </a:t>
            </a:r>
          </a:p>
          <a:p>
            <a:pPr marL="0" indent="0">
              <a:buNone/>
            </a:pPr>
            <a:endParaRPr lang="en-US" sz="3600" dirty="0" smtClean="0">
              <a:latin typeface="Garamond" panose="02020404030301010803" pitchFamily="18" charset="0"/>
            </a:endParaRPr>
          </a:p>
          <a:p>
            <a:pPr marL="0" indent="0">
              <a:buNone/>
            </a:pPr>
            <a:r>
              <a:rPr lang="en-US" sz="3600" dirty="0" smtClean="0">
                <a:latin typeface="Garamond" panose="02020404030301010803" pitchFamily="18" charset="0"/>
              </a:rPr>
              <a:t>Majority (78%-92%) of Ghanaians perceive that some public and private sector officials are corrupt but the perception is worse for officials in the public sector</a:t>
            </a:r>
            <a:endParaRPr lang="en-US" sz="3600" dirty="0">
              <a:latin typeface="Garamond" panose="02020404030301010803" pitchFamily="18" charset="0"/>
            </a:endParaRPr>
          </a:p>
        </p:txBody>
      </p:sp>
    </p:spTree>
    <p:extLst>
      <p:ext uri="{BB962C8B-B14F-4D97-AF65-F5344CB8AC3E}">
        <p14:creationId xmlns:p14="http://schemas.microsoft.com/office/powerpoint/2010/main" val="16365419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6638" y="225835"/>
            <a:ext cx="10515600" cy="1325563"/>
          </a:xfrm>
        </p:spPr>
        <p:txBody>
          <a:bodyPr>
            <a:normAutofit fontScale="90000"/>
          </a:bodyPr>
          <a:lstStyle/>
          <a:p>
            <a:r>
              <a:rPr lang="en-US" dirty="0" smtClean="0">
                <a:latin typeface="Garamond" panose="02020404030301010803" pitchFamily="18" charset="0"/>
              </a:rPr>
              <a:t/>
            </a:r>
            <a:br>
              <a:rPr lang="en-US" dirty="0" smtClean="0">
                <a:latin typeface="Garamond" panose="02020404030301010803" pitchFamily="18" charset="0"/>
              </a:rPr>
            </a:br>
            <a:r>
              <a:rPr lang="en-US" b="1" dirty="0" smtClean="0">
                <a:latin typeface="Garamond" panose="02020404030301010803" pitchFamily="18" charset="0"/>
              </a:rPr>
              <a:t>Corruption is manifested through the following dominant techniques: </a:t>
            </a:r>
            <a:r>
              <a:rPr lang="en-US" dirty="0" smtClean="0">
                <a:latin typeface="Garamond" panose="02020404030301010803" pitchFamily="18" charset="0"/>
              </a:rPr>
              <a:t/>
            </a:r>
            <a:br>
              <a:rPr lang="en-US" dirty="0" smtClean="0">
                <a:latin typeface="Garamond" panose="02020404030301010803" pitchFamily="18" charset="0"/>
              </a:rPr>
            </a:br>
            <a:endParaRPr lang="en-US" dirty="0"/>
          </a:p>
        </p:txBody>
      </p:sp>
      <p:sp>
        <p:nvSpPr>
          <p:cNvPr id="3" name="Content Placeholder 2"/>
          <p:cNvSpPr>
            <a:spLocks noGrp="1"/>
          </p:cNvSpPr>
          <p:nvPr>
            <p:ph idx="1"/>
          </p:nvPr>
        </p:nvSpPr>
        <p:spPr>
          <a:xfrm>
            <a:off x="838199" y="1551398"/>
            <a:ext cx="10822969" cy="4931595"/>
          </a:xfrm>
        </p:spPr>
        <p:txBody>
          <a:bodyPr>
            <a:normAutofit/>
          </a:bodyPr>
          <a:lstStyle/>
          <a:p>
            <a:pPr algn="just"/>
            <a:r>
              <a:rPr lang="en-US" sz="3600" dirty="0" smtClean="0">
                <a:latin typeface="Garamond" panose="02020404030301010803" pitchFamily="18" charset="0"/>
              </a:rPr>
              <a:t>1. Embezzlement, misappropriation or other diversion of      	public property/funds by public officials </a:t>
            </a:r>
          </a:p>
          <a:p>
            <a:pPr algn="just"/>
            <a:r>
              <a:rPr lang="en-US" sz="3600" dirty="0" smtClean="0">
                <a:latin typeface="Garamond" panose="02020404030301010803" pitchFamily="18" charset="0"/>
              </a:rPr>
              <a:t>2. Bribery of top government officials </a:t>
            </a:r>
          </a:p>
          <a:p>
            <a:pPr algn="just"/>
            <a:r>
              <a:rPr lang="en-US" sz="3600" dirty="0" smtClean="0">
                <a:latin typeface="Garamond" panose="02020404030301010803" pitchFamily="18" charset="0"/>
              </a:rPr>
              <a:t>3. Inflation of contracts and over- invoicing </a:t>
            </a:r>
          </a:p>
          <a:p>
            <a:pPr algn="just"/>
            <a:r>
              <a:rPr lang="en-US" sz="3600" dirty="0" smtClean="0">
                <a:latin typeface="Garamond" panose="02020404030301010803" pitchFamily="18" charset="0"/>
              </a:rPr>
              <a:t>4. Abuse /misuse of public office for personal gains </a:t>
            </a:r>
          </a:p>
          <a:p>
            <a:pPr algn="just"/>
            <a:r>
              <a:rPr lang="en-US" sz="3600" dirty="0" smtClean="0">
                <a:latin typeface="Garamond" panose="02020404030301010803" pitchFamily="18" charset="0"/>
              </a:rPr>
              <a:t>5. Trading in influence to get things done or not done </a:t>
            </a:r>
          </a:p>
          <a:p>
            <a:pPr algn="just"/>
            <a:r>
              <a:rPr lang="en-US" sz="3600" dirty="0" smtClean="0">
                <a:latin typeface="Garamond" panose="02020404030301010803" pitchFamily="18" charset="0"/>
              </a:rPr>
              <a:t>6. Illegal transfer or taking of money abroad</a:t>
            </a:r>
            <a:r>
              <a:rPr lang="en-US" dirty="0" smtClean="0"/>
              <a:t>.</a:t>
            </a:r>
            <a:endParaRPr lang="en-US" dirty="0"/>
          </a:p>
        </p:txBody>
      </p:sp>
    </p:spTree>
    <p:extLst>
      <p:ext uri="{BB962C8B-B14F-4D97-AF65-F5344CB8AC3E}">
        <p14:creationId xmlns:p14="http://schemas.microsoft.com/office/powerpoint/2010/main" val="13598466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256" y="339047"/>
            <a:ext cx="11507056" cy="1486578"/>
          </a:xfrm>
        </p:spPr>
        <p:txBody>
          <a:bodyPr>
            <a:noAutofit/>
          </a:bodyPr>
          <a:lstStyle/>
          <a:p>
            <a:r>
              <a:rPr lang="en-US" sz="3600" b="1" dirty="0" smtClean="0">
                <a:latin typeface="Garamond" panose="02020404030301010803" pitchFamily="18" charset="0"/>
              </a:rPr>
              <a:t>From collation of Country reports of survey conducted in GIABA member States, responses from Ghana were rated as follows: </a:t>
            </a:r>
            <a:endParaRPr lang="en-US" sz="3600" b="1" dirty="0">
              <a:latin typeface="Garamond" panose="02020404030301010803" pitchFamily="18" charset="0"/>
            </a:endParaRPr>
          </a:p>
        </p:txBody>
      </p:sp>
      <p:sp>
        <p:nvSpPr>
          <p:cNvPr id="3" name="Content Placeholder 2"/>
          <p:cNvSpPr>
            <a:spLocks noGrp="1"/>
          </p:cNvSpPr>
          <p:nvPr>
            <p:ph idx="1"/>
          </p:nvPr>
        </p:nvSpPr>
        <p:spPr/>
        <p:txBody>
          <a:bodyPr>
            <a:normAutofit/>
          </a:bodyPr>
          <a:lstStyle/>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smtClean="0"/>
          </a:p>
          <a:p>
            <a:pPr marL="0" indent="0">
              <a:buNone/>
            </a:pP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658282095"/>
              </p:ext>
            </p:extLst>
          </p:nvPr>
        </p:nvGraphicFramePr>
        <p:xfrm>
          <a:off x="955496" y="1825625"/>
          <a:ext cx="10304980" cy="5136833"/>
        </p:xfrm>
        <a:graphic>
          <a:graphicData uri="http://schemas.openxmlformats.org/drawingml/2006/table">
            <a:tbl>
              <a:tblPr firstRow="1" bandRow="1">
                <a:tableStyleId>{5C22544A-7EE6-4342-B048-85BDC9FD1C3A}</a:tableStyleId>
              </a:tblPr>
              <a:tblGrid>
                <a:gridCol w="7573508"/>
                <a:gridCol w="2731472"/>
              </a:tblGrid>
              <a:tr h="7477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CORRUPTION TECHNIQUE`1`</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GHANA</a:t>
                      </a:r>
                    </a:p>
                    <a:p>
                      <a:endParaRPr lang="en-US" dirty="0"/>
                    </a:p>
                  </a:txBody>
                  <a:tcPr/>
                </a:tc>
              </a:tr>
              <a:tr h="427264">
                <a:tc>
                  <a:txBody>
                    <a:bodyPr/>
                    <a:lstStyle/>
                    <a:p>
                      <a:r>
                        <a:rPr lang="en-US" sz="2400" b="1" dirty="0" smtClean="0"/>
                        <a:t>Bribery of government officials</a:t>
                      </a:r>
                      <a:endParaRPr lang="en-US" sz="2400" b="1" dirty="0"/>
                    </a:p>
                  </a:txBody>
                  <a:tcPr/>
                </a:tc>
                <a:tc>
                  <a:txBody>
                    <a:bodyPr/>
                    <a:lstStyle/>
                    <a:p>
                      <a:r>
                        <a:rPr lang="en-US" sz="2400" b="1" dirty="0" smtClean="0"/>
                        <a:t>56.7%</a:t>
                      </a:r>
                      <a:endParaRPr lang="en-US" sz="2400" b="1" dirty="0"/>
                    </a:p>
                  </a:txBody>
                  <a:tcPr/>
                </a:tc>
              </a:tr>
              <a:tr h="427264">
                <a:tc>
                  <a:txBody>
                    <a:bodyPr/>
                    <a:lstStyle/>
                    <a:p>
                      <a:r>
                        <a:rPr lang="en-US" sz="2400" b="1" dirty="0" smtClean="0"/>
                        <a:t>Bribery of foreign </a:t>
                      </a:r>
                      <a:endParaRPr lang="en-US" sz="2400" b="1" dirty="0"/>
                    </a:p>
                  </a:txBody>
                  <a:tcPr/>
                </a:tc>
                <a:tc>
                  <a:txBody>
                    <a:bodyPr/>
                    <a:lstStyle/>
                    <a:p>
                      <a:r>
                        <a:rPr lang="en-US" sz="2400" b="1" dirty="0" smtClean="0"/>
                        <a:t>6.7%</a:t>
                      </a:r>
                      <a:endParaRPr lang="en-US" sz="2400" b="1" dirty="0"/>
                    </a:p>
                  </a:txBody>
                  <a:tcPr/>
                </a:tc>
              </a:tr>
              <a:tr h="7477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smtClean="0"/>
                        <a:t>Embezzlement, misappropriation or other diversion of property by government officials </a:t>
                      </a:r>
                      <a:endParaRPr lang="en-US" sz="2400" b="1" dirty="0"/>
                    </a:p>
                  </a:txBody>
                  <a:tcPr/>
                </a:tc>
                <a:tc>
                  <a:txBody>
                    <a:bodyPr/>
                    <a:lstStyle/>
                    <a:p>
                      <a:r>
                        <a:rPr lang="en-US" sz="2400" b="1" dirty="0" smtClean="0"/>
                        <a:t>56.7%</a:t>
                      </a:r>
                      <a:endParaRPr lang="en-US" sz="2400" b="1" dirty="0"/>
                    </a:p>
                  </a:txBody>
                  <a:tcPr/>
                </a:tc>
              </a:tr>
              <a:tr h="4272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smtClean="0"/>
                        <a:t>Asset/ Misuse of off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smtClean="0"/>
                        <a:t>ice for personal gains</a:t>
                      </a:r>
                      <a:endParaRPr lang="en-US" sz="2400" b="1" dirty="0"/>
                    </a:p>
                  </a:txBody>
                  <a:tcPr/>
                </a:tc>
                <a:tc>
                  <a:txBody>
                    <a:bodyPr/>
                    <a:lstStyle/>
                    <a:p>
                      <a:r>
                        <a:rPr lang="en-US" sz="2400" b="1" dirty="0" smtClean="0"/>
                        <a:t>46.7%</a:t>
                      </a:r>
                      <a:endParaRPr lang="en-US" sz="2400" b="1" dirty="0"/>
                    </a:p>
                  </a:txBody>
                  <a:tcPr/>
                </a:tc>
              </a:tr>
              <a:tr h="4272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smtClean="0"/>
                        <a:t>Trading in influence to get things done or not done</a:t>
                      </a:r>
                      <a:endParaRPr lang="en-US" sz="2400" b="1" dirty="0"/>
                    </a:p>
                  </a:txBody>
                  <a:tcPr/>
                </a:tc>
                <a:tc>
                  <a:txBody>
                    <a:bodyPr/>
                    <a:lstStyle/>
                    <a:p>
                      <a:r>
                        <a:rPr lang="en-US" sz="2400" b="1" dirty="0" smtClean="0"/>
                        <a:t>50%</a:t>
                      </a:r>
                      <a:endParaRPr lang="en-US" sz="2400" b="1" dirty="0"/>
                    </a:p>
                  </a:txBody>
                  <a:tcPr/>
                </a:tc>
              </a:tr>
              <a:tr h="4272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smtClean="0"/>
                        <a:t>Illegal transfer or taking of money abroad</a:t>
                      </a:r>
                      <a:endParaRPr lang="en-US" sz="2400" b="1" dirty="0"/>
                    </a:p>
                  </a:txBody>
                  <a:tcPr/>
                </a:tc>
                <a:tc>
                  <a:txBody>
                    <a:bodyPr/>
                    <a:lstStyle/>
                    <a:p>
                      <a:r>
                        <a:rPr lang="en-US" sz="2400" b="1" dirty="0" smtClean="0"/>
                        <a:t>13.3%</a:t>
                      </a:r>
                      <a:endParaRPr lang="en-US" sz="2400" b="1" dirty="0"/>
                    </a:p>
                  </a:txBody>
                  <a:tcPr/>
                </a:tc>
              </a:tr>
              <a:tr h="4272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smtClean="0"/>
                        <a:t>Bribery or embezzlement in private sector</a:t>
                      </a:r>
                      <a:endParaRPr lang="en-US" sz="2400" b="1" dirty="0"/>
                    </a:p>
                  </a:txBody>
                  <a:tcPr/>
                </a:tc>
                <a:tc>
                  <a:txBody>
                    <a:bodyPr/>
                    <a:lstStyle/>
                    <a:p>
                      <a:r>
                        <a:rPr lang="en-US" sz="2400" b="1" dirty="0" smtClean="0"/>
                        <a:t>10%</a:t>
                      </a:r>
                      <a:endParaRPr lang="en-US" sz="2400" b="1" dirty="0"/>
                    </a:p>
                  </a:txBody>
                  <a:tcPr/>
                </a:tc>
              </a:tr>
              <a:tr h="4272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smtClean="0"/>
                        <a:t>Inflation of contract figures</a:t>
                      </a:r>
                      <a:endParaRPr lang="en-US" sz="2400" b="1" dirty="0"/>
                    </a:p>
                  </a:txBody>
                  <a:tcPr/>
                </a:tc>
                <a:tc>
                  <a:txBody>
                    <a:bodyPr/>
                    <a:lstStyle/>
                    <a:p>
                      <a:r>
                        <a:rPr lang="en-US" sz="2400" b="1" dirty="0" smtClean="0"/>
                        <a:t>56%</a:t>
                      </a:r>
                      <a:endParaRPr lang="en-US" sz="2400" b="1" dirty="0"/>
                    </a:p>
                  </a:txBody>
                  <a:tcPr/>
                </a:tc>
              </a:tr>
            </a:tbl>
          </a:graphicData>
        </a:graphic>
      </p:graphicFrame>
    </p:spTree>
    <p:extLst>
      <p:ext uri="{BB962C8B-B14F-4D97-AF65-F5344CB8AC3E}">
        <p14:creationId xmlns:p14="http://schemas.microsoft.com/office/powerpoint/2010/main" val="38767557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Garamond" panose="02020404030301010803" pitchFamily="18" charset="0"/>
              </a:rPr>
              <a:t>Examples of corruption</a:t>
            </a:r>
          </a:p>
        </p:txBody>
      </p:sp>
      <p:sp>
        <p:nvSpPr>
          <p:cNvPr id="3" name="Content Placeholder 2"/>
          <p:cNvSpPr>
            <a:spLocks noGrp="1"/>
          </p:cNvSpPr>
          <p:nvPr>
            <p:ph idx="1"/>
          </p:nvPr>
        </p:nvSpPr>
        <p:spPr>
          <a:xfrm>
            <a:off x="838200" y="1463040"/>
            <a:ext cx="10515600" cy="5120640"/>
          </a:xfrm>
        </p:spPr>
        <p:txBody>
          <a:bodyPr>
            <a:normAutofit fontScale="92500" lnSpcReduction="20000"/>
          </a:bodyPr>
          <a:lstStyle/>
          <a:p>
            <a:pPr algn="just"/>
            <a:r>
              <a:rPr lang="en-US" sz="3600" dirty="0" smtClean="0">
                <a:latin typeface="Garamond" panose="02020404030301010803" pitchFamily="18" charset="0"/>
              </a:rPr>
              <a:t>A </a:t>
            </a:r>
            <a:r>
              <a:rPr lang="en-US" sz="3600" dirty="0">
                <a:latin typeface="Garamond" panose="02020404030301010803" pitchFamily="18" charset="0"/>
              </a:rPr>
              <a:t>former executive director of the National Youth Employment Program now Ghana Youth Employment and Entrepreneurial Development Agency (GYEEDA) and a consultant to a project under the programme have been prosecuted for stealing huge state funds through sham contracts</a:t>
            </a:r>
            <a:r>
              <a:rPr lang="en-US" sz="3600" dirty="0" smtClean="0">
                <a:latin typeface="Garamond" panose="02020404030301010803" pitchFamily="18" charset="0"/>
              </a:rPr>
              <a:t>.</a:t>
            </a:r>
          </a:p>
          <a:p>
            <a:pPr marL="0" indent="0" algn="just">
              <a:buNone/>
            </a:pPr>
            <a:endParaRPr lang="en-US" sz="3600" dirty="0" smtClean="0">
              <a:latin typeface="Garamond" panose="02020404030301010803" pitchFamily="18" charset="0"/>
            </a:endParaRPr>
          </a:p>
          <a:p>
            <a:pPr algn="just"/>
            <a:r>
              <a:rPr lang="en-US" sz="3600" dirty="0">
                <a:latin typeface="Garamond" panose="02020404030301010803" pitchFamily="18" charset="0"/>
              </a:rPr>
              <a:t>Another corruption case currently in court involve a former CEO of Ghana Cocoa Board (COCOBOD) who has been charged with 27 counts of willfully causing financial loss to the State to the tune of Two Hundred and Seventeen Million Ghana </a:t>
            </a:r>
            <a:r>
              <a:rPr lang="en-US" sz="3600" dirty="0" err="1">
                <a:latin typeface="Garamond" panose="02020404030301010803" pitchFamily="18" charset="0"/>
              </a:rPr>
              <a:t>Cedis</a:t>
            </a:r>
            <a:r>
              <a:rPr lang="en-US" sz="3600" dirty="0">
                <a:latin typeface="Garamond" panose="02020404030301010803" pitchFamily="18" charset="0"/>
              </a:rPr>
              <a:t> (GHS 217,000,000) in three separate contracts for the supply of fertilizers from Germany</a:t>
            </a:r>
          </a:p>
        </p:txBody>
      </p:sp>
    </p:spTree>
    <p:extLst>
      <p:ext uri="{BB962C8B-B14F-4D97-AF65-F5344CB8AC3E}">
        <p14:creationId xmlns:p14="http://schemas.microsoft.com/office/powerpoint/2010/main" val="416220914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Garamond" panose="02020404030301010803" pitchFamily="18" charset="0"/>
              </a:rPr>
              <a:t>Examples of </a:t>
            </a:r>
            <a:r>
              <a:rPr lang="en-US" b="1" dirty="0" smtClean="0">
                <a:latin typeface="Garamond" panose="02020404030301010803" pitchFamily="18" charset="0"/>
              </a:rPr>
              <a:t>corruption </a:t>
            </a:r>
            <a:r>
              <a:rPr lang="en-US" b="1" dirty="0" err="1" smtClean="0">
                <a:latin typeface="Garamond" panose="02020404030301010803" pitchFamily="18" charset="0"/>
              </a:rPr>
              <a:t>cont’n</a:t>
            </a:r>
            <a:endParaRPr lang="en-US" dirty="0"/>
          </a:p>
        </p:txBody>
      </p:sp>
      <p:sp>
        <p:nvSpPr>
          <p:cNvPr id="3" name="Content Placeholder 2"/>
          <p:cNvSpPr>
            <a:spLocks noGrp="1"/>
          </p:cNvSpPr>
          <p:nvPr>
            <p:ph idx="1"/>
          </p:nvPr>
        </p:nvSpPr>
        <p:spPr>
          <a:xfrm>
            <a:off x="838200" y="1825624"/>
            <a:ext cx="10515600" cy="4829617"/>
          </a:xfrm>
        </p:spPr>
        <p:txBody>
          <a:bodyPr>
            <a:normAutofit/>
          </a:bodyPr>
          <a:lstStyle/>
          <a:p>
            <a:pPr algn="just"/>
            <a:r>
              <a:rPr lang="en-US" sz="3300" dirty="0">
                <a:latin typeface="Garamond" panose="02020404030301010803" pitchFamily="18" charset="0"/>
              </a:rPr>
              <a:t>Another corruption case was alleged to involve the CEO of National Lotteries Authority (NLA); he was alleged to have approved 11 contracts worth more than half a million Ghana </a:t>
            </a:r>
            <a:r>
              <a:rPr lang="en-US" sz="3300" dirty="0" err="1">
                <a:latin typeface="Garamond" panose="02020404030301010803" pitchFamily="18" charset="0"/>
              </a:rPr>
              <a:t>Cedis</a:t>
            </a:r>
            <a:r>
              <a:rPr lang="en-US" sz="3300" dirty="0">
                <a:latin typeface="Garamond" panose="02020404030301010803" pitchFamily="18" charset="0"/>
              </a:rPr>
              <a:t> to her </a:t>
            </a:r>
            <a:r>
              <a:rPr lang="en-US" sz="3300" dirty="0" err="1">
                <a:latin typeface="Garamond" panose="02020404030301010803" pitchFamily="18" charset="0"/>
              </a:rPr>
              <a:t>sisterin</a:t>
            </a:r>
            <a:r>
              <a:rPr lang="en-US" sz="3300" dirty="0">
                <a:latin typeface="Garamond" panose="02020404030301010803" pitchFamily="18" charset="0"/>
              </a:rPr>
              <a:t>-law to supply end-of-year packages to staff of the Authority. All contracts were dated November 29, 2017, and awarded to the sister-in-law who is the sole proprietor of a company to buy bags of rice in excess of 1,000, canned drinks, corned beef and tin </a:t>
            </a:r>
            <a:r>
              <a:rPr lang="en-US" sz="3300" dirty="0" smtClean="0">
                <a:latin typeface="Garamond" panose="02020404030301010803" pitchFamily="18" charset="0"/>
              </a:rPr>
              <a:t>tomatoes</a:t>
            </a:r>
          </a:p>
          <a:p>
            <a:pPr algn="just"/>
            <a:r>
              <a:rPr lang="en-US" sz="3300" dirty="0">
                <a:latin typeface="Garamond" panose="02020404030301010803" pitchFamily="18" charset="0"/>
              </a:rPr>
              <a:t>Sources reveal that the company seized operating immediately after executing the NLA contracts.</a:t>
            </a:r>
          </a:p>
          <a:p>
            <a:endParaRPr lang="en-US" sz="3300" dirty="0">
              <a:latin typeface="Garamond" panose="02020404030301010803" pitchFamily="18" charset="0"/>
            </a:endParaRPr>
          </a:p>
        </p:txBody>
      </p:sp>
    </p:spTree>
    <p:extLst>
      <p:ext uri="{BB962C8B-B14F-4D97-AF65-F5344CB8AC3E}">
        <p14:creationId xmlns:p14="http://schemas.microsoft.com/office/powerpoint/2010/main" val="2645755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8" y="365125"/>
            <a:ext cx="10832592" cy="878459"/>
          </a:xfrm>
        </p:spPr>
        <p:txBody>
          <a:bodyPr>
            <a:normAutofit/>
          </a:bodyPr>
          <a:lstStyle/>
          <a:p>
            <a:r>
              <a:rPr lang="en-US" b="1" dirty="0">
                <a:latin typeface="Garamond" panose="02020404030301010803" pitchFamily="18" charset="0"/>
              </a:rPr>
              <a:t>COCOA SECTOR</a:t>
            </a:r>
          </a:p>
        </p:txBody>
      </p:sp>
      <p:sp>
        <p:nvSpPr>
          <p:cNvPr id="3" name="Content Placeholder 2"/>
          <p:cNvSpPr>
            <a:spLocks noGrp="1"/>
          </p:cNvSpPr>
          <p:nvPr>
            <p:ph idx="1"/>
          </p:nvPr>
        </p:nvSpPr>
        <p:spPr>
          <a:xfrm>
            <a:off x="292608" y="1243584"/>
            <a:ext cx="11061192" cy="5477256"/>
          </a:xfrm>
        </p:spPr>
        <p:txBody>
          <a:bodyPr>
            <a:normAutofit fontScale="92500" lnSpcReduction="10000"/>
          </a:bodyPr>
          <a:lstStyle/>
          <a:p>
            <a:pPr algn="just"/>
            <a:r>
              <a:rPr lang="en-US" sz="3300" dirty="0">
                <a:latin typeface="Garamond" panose="02020404030301010803" pitchFamily="18" charset="0"/>
              </a:rPr>
              <a:t>Ghana is the second world largest producer of cocoa beans (UN Food and Agriculture </a:t>
            </a:r>
            <a:r>
              <a:rPr lang="en-US" sz="3300" dirty="0" err="1">
                <a:latin typeface="Garamond" panose="02020404030301010803" pitchFamily="18" charset="0"/>
              </a:rPr>
              <a:t>Organisation</a:t>
            </a:r>
            <a:r>
              <a:rPr lang="en-US" sz="3300" dirty="0">
                <a:latin typeface="Garamond" panose="02020404030301010803" pitchFamily="18" charset="0"/>
              </a:rPr>
              <a:t>, 2017). Cocoa contribution to Ghana’s economy cannot be over emphasized. It contributes an average of 25% to the GDP of the economy. It directly and indirectly employs about 2 million </a:t>
            </a:r>
            <a:r>
              <a:rPr lang="en-US" sz="3300" dirty="0" smtClean="0">
                <a:latin typeface="Garamond" panose="02020404030301010803" pitchFamily="18" charset="0"/>
              </a:rPr>
              <a:t>people</a:t>
            </a:r>
          </a:p>
          <a:p>
            <a:pPr algn="just"/>
            <a:endParaRPr lang="en-US" sz="3300" dirty="0">
              <a:latin typeface="Garamond" panose="02020404030301010803" pitchFamily="18" charset="0"/>
            </a:endParaRPr>
          </a:p>
          <a:p>
            <a:pPr algn="just"/>
            <a:r>
              <a:rPr lang="en-US" sz="3400" dirty="0">
                <a:latin typeface="Garamond" panose="02020404030301010803" pitchFamily="18" charset="0"/>
              </a:rPr>
              <a:t>Cocoa farmers around the Eastern and Western borders in Ghana smuggle their cocoa beans to </a:t>
            </a:r>
            <a:r>
              <a:rPr lang="en-US" sz="3400" dirty="0" err="1">
                <a:latin typeface="Garamond" panose="02020404030301010803" pitchFamily="18" charset="0"/>
              </a:rPr>
              <a:t>neigbouring</a:t>
            </a:r>
            <a:r>
              <a:rPr lang="en-US" sz="3400" dirty="0">
                <a:latin typeface="Garamond" panose="02020404030301010803" pitchFamily="18" charset="0"/>
              </a:rPr>
              <a:t> countries to get better value for their cocoa. Over the past decade it has mainly involved Ghanaian cocoa beans being smuggled to La Cote </a:t>
            </a:r>
            <a:r>
              <a:rPr lang="en-US" sz="3400" dirty="0" err="1">
                <a:latin typeface="Garamond" panose="02020404030301010803" pitchFamily="18" charset="0"/>
              </a:rPr>
              <a:t>D’lvoire</a:t>
            </a:r>
            <a:r>
              <a:rPr lang="en-US" sz="3400" dirty="0">
                <a:latin typeface="Garamond" panose="02020404030301010803" pitchFamily="18" charset="0"/>
              </a:rPr>
              <a:t>.</a:t>
            </a:r>
          </a:p>
          <a:p>
            <a:pPr algn="just"/>
            <a:r>
              <a:rPr lang="en-US" sz="3400" dirty="0">
                <a:latin typeface="Garamond" panose="02020404030301010803" pitchFamily="18" charset="0"/>
              </a:rPr>
              <a:t>In the year 2014, cocoa smuggled from Ghana to Cote </a:t>
            </a:r>
            <a:r>
              <a:rPr lang="en-US" sz="3400" dirty="0" err="1">
                <a:latin typeface="Garamond" panose="02020404030301010803" pitchFamily="18" charset="0"/>
              </a:rPr>
              <a:t>D’lvoire</a:t>
            </a:r>
            <a:r>
              <a:rPr lang="en-US" sz="3400" dirty="0">
                <a:latin typeface="Garamond" panose="02020404030301010803" pitchFamily="18" charset="0"/>
              </a:rPr>
              <a:t> was estimated to be 200,000 tons leading to loss of revenue to the government of Ghana</a:t>
            </a:r>
          </a:p>
        </p:txBody>
      </p:sp>
    </p:spTree>
    <p:extLst>
      <p:ext uri="{BB962C8B-B14F-4D97-AF65-F5344CB8AC3E}">
        <p14:creationId xmlns:p14="http://schemas.microsoft.com/office/powerpoint/2010/main" val="37591904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75"/>
          </a:xfrm>
        </p:spPr>
        <p:txBody>
          <a:bodyPr>
            <a:normAutofit/>
          </a:bodyPr>
          <a:lstStyle/>
          <a:p>
            <a:r>
              <a:rPr lang="en-US" b="1" dirty="0">
                <a:latin typeface="Garamond" panose="02020404030301010803" pitchFamily="18" charset="0"/>
              </a:rPr>
              <a:t>HOTEL SECTOR </a:t>
            </a:r>
          </a:p>
        </p:txBody>
      </p:sp>
      <p:sp>
        <p:nvSpPr>
          <p:cNvPr id="3" name="Content Placeholder 2"/>
          <p:cNvSpPr>
            <a:spLocks noGrp="1"/>
          </p:cNvSpPr>
          <p:nvPr>
            <p:ph idx="1"/>
          </p:nvPr>
        </p:nvSpPr>
        <p:spPr>
          <a:xfrm>
            <a:off x="448056" y="1225296"/>
            <a:ext cx="10905744" cy="5285232"/>
          </a:xfrm>
        </p:spPr>
        <p:txBody>
          <a:bodyPr>
            <a:normAutofit lnSpcReduction="10000"/>
          </a:bodyPr>
          <a:lstStyle/>
          <a:p>
            <a:pPr marL="0" indent="0" algn="just">
              <a:buNone/>
            </a:pPr>
            <a:r>
              <a:rPr lang="en-US" sz="3300" dirty="0">
                <a:latin typeface="Garamond" panose="02020404030301010803" pitchFamily="18" charset="0"/>
              </a:rPr>
              <a:t>The hotel sector was also identified as one of the emerging sectors opened to abuse by money launderers and terrorist financiers. </a:t>
            </a:r>
            <a:endParaRPr lang="en-US" sz="3300" dirty="0" smtClean="0">
              <a:latin typeface="Garamond" panose="02020404030301010803" pitchFamily="18" charset="0"/>
            </a:endParaRPr>
          </a:p>
          <a:p>
            <a:pPr marL="0" indent="0" algn="just">
              <a:buNone/>
            </a:pPr>
            <a:r>
              <a:rPr lang="en-US" sz="3300" dirty="0" smtClean="0">
                <a:latin typeface="Garamond" panose="02020404030301010803" pitchFamily="18" charset="0"/>
              </a:rPr>
              <a:t>Some </a:t>
            </a:r>
            <a:r>
              <a:rPr lang="en-US" sz="3300" dirty="0">
                <a:latin typeface="Garamond" panose="02020404030301010803" pitchFamily="18" charset="0"/>
              </a:rPr>
              <a:t>of the red flags or schemes operated by criminals in this sector include payment for goods and services which never took place, overpayment for hospitality services and reversal of payment for requested hospitality services. </a:t>
            </a:r>
            <a:endParaRPr lang="en-US" sz="3300" dirty="0" smtClean="0">
              <a:latin typeface="Garamond" panose="02020404030301010803" pitchFamily="18" charset="0"/>
            </a:endParaRPr>
          </a:p>
          <a:p>
            <a:pPr marL="0" indent="0" algn="just">
              <a:buNone/>
            </a:pPr>
            <a:endParaRPr lang="en-US" sz="3300" dirty="0" smtClean="0">
              <a:latin typeface="Garamond" panose="02020404030301010803" pitchFamily="18" charset="0"/>
            </a:endParaRPr>
          </a:p>
          <a:p>
            <a:pPr marL="0" indent="0" algn="just">
              <a:buNone/>
            </a:pPr>
            <a:r>
              <a:rPr lang="en-US" sz="3300" dirty="0" smtClean="0">
                <a:latin typeface="Garamond" panose="02020404030301010803" pitchFamily="18" charset="0"/>
              </a:rPr>
              <a:t>Others </a:t>
            </a:r>
            <a:r>
              <a:rPr lang="en-US" sz="3300" dirty="0">
                <a:latin typeface="Garamond" panose="02020404030301010803" pitchFamily="18" charset="0"/>
              </a:rPr>
              <a:t>include bookings for hotel services which are paid in advance to give legitimacy to the transaction but are later cancelled. </a:t>
            </a:r>
          </a:p>
        </p:txBody>
      </p:sp>
    </p:spTree>
    <p:extLst>
      <p:ext uri="{BB962C8B-B14F-4D97-AF65-F5344CB8AC3E}">
        <p14:creationId xmlns:p14="http://schemas.microsoft.com/office/powerpoint/2010/main" val="395212464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normAutofit/>
          </a:bodyPr>
          <a:lstStyle/>
          <a:p>
            <a:r>
              <a:rPr lang="en-US" b="1" dirty="0">
                <a:latin typeface="Garamond" panose="02020404030301010803" pitchFamily="18" charset="0"/>
              </a:rPr>
              <a:t>EXTRACTIVE SECTOR </a:t>
            </a:r>
          </a:p>
        </p:txBody>
      </p:sp>
      <p:sp>
        <p:nvSpPr>
          <p:cNvPr id="3" name="Content Placeholder 2"/>
          <p:cNvSpPr>
            <a:spLocks noGrp="1"/>
          </p:cNvSpPr>
          <p:nvPr>
            <p:ph idx="1"/>
          </p:nvPr>
        </p:nvSpPr>
        <p:spPr>
          <a:xfrm>
            <a:off x="438912" y="1335024"/>
            <a:ext cx="10914888" cy="4841939"/>
          </a:xfrm>
        </p:spPr>
        <p:txBody>
          <a:bodyPr>
            <a:normAutofit/>
          </a:bodyPr>
          <a:lstStyle/>
          <a:p>
            <a:pPr marL="0" indent="0" algn="just">
              <a:buNone/>
            </a:pPr>
            <a:r>
              <a:rPr lang="en-US" sz="3300" dirty="0">
                <a:latin typeface="Garamond" panose="02020404030301010803" pitchFamily="18" charset="0"/>
              </a:rPr>
              <a:t>The extractive sector consists of the oil, gas and mining sectors. It has historically, and continues to be a significant contributor to Ghana’s socio-economic development. Specifically, oil and gas employs about 7000 people while about 192,000 people are employed in the mining sector. </a:t>
            </a:r>
          </a:p>
        </p:txBody>
      </p:sp>
    </p:spTree>
    <p:extLst>
      <p:ext uri="{BB962C8B-B14F-4D97-AF65-F5344CB8AC3E}">
        <p14:creationId xmlns:p14="http://schemas.microsoft.com/office/powerpoint/2010/main" val="258725169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Garamond" panose="02020404030301010803" pitchFamily="18" charset="0"/>
              </a:rPr>
              <a:t>The specific ML/TF risks have been categorized below</a:t>
            </a:r>
            <a:r>
              <a:rPr lang="en-US" dirty="0"/>
              <a:t>:</a:t>
            </a:r>
          </a:p>
        </p:txBody>
      </p:sp>
      <p:sp>
        <p:nvSpPr>
          <p:cNvPr id="3" name="Content Placeholder 2"/>
          <p:cNvSpPr>
            <a:spLocks noGrp="1"/>
          </p:cNvSpPr>
          <p:nvPr>
            <p:ph idx="1"/>
          </p:nvPr>
        </p:nvSpPr>
        <p:spPr/>
        <p:txBody>
          <a:bodyPr>
            <a:normAutofit lnSpcReduction="10000"/>
          </a:bodyPr>
          <a:lstStyle/>
          <a:p>
            <a:pPr marL="0" indent="0">
              <a:buNone/>
            </a:pPr>
            <a:r>
              <a:rPr lang="en-US" sz="3600" b="1" dirty="0"/>
              <a:t>a. Licensing, contracting and operation </a:t>
            </a:r>
            <a:endParaRPr lang="en-US" sz="3600" b="1" dirty="0" smtClean="0"/>
          </a:p>
          <a:p>
            <a:r>
              <a:rPr lang="en-US" sz="3300" dirty="0" err="1">
                <a:latin typeface="Garamond" panose="02020404030301010803" pitchFamily="18" charset="0"/>
              </a:rPr>
              <a:t>i</a:t>
            </a:r>
            <a:r>
              <a:rPr lang="en-US" sz="3300" dirty="0">
                <a:latin typeface="Garamond" panose="02020404030301010803" pitchFamily="18" charset="0"/>
              </a:rPr>
              <a:t>. Weak licensing regime of Small scale mining </a:t>
            </a:r>
          </a:p>
          <a:p>
            <a:r>
              <a:rPr lang="en-US" sz="3300" dirty="0">
                <a:latin typeface="Garamond" panose="02020404030301010803" pitchFamily="18" charset="0"/>
              </a:rPr>
              <a:t>ii. Lack of beneficial ownership information on extractive companies </a:t>
            </a:r>
          </a:p>
          <a:p>
            <a:r>
              <a:rPr lang="en-US" sz="3300" dirty="0">
                <a:latin typeface="Garamond" panose="02020404030301010803" pitchFamily="18" charset="0"/>
              </a:rPr>
              <a:t>iii. Fragmented and bureaucratic licensing processes in the extractive sector (particularly mining), creating room for bribery of state officials to allow prospective applicants to circumvent the processes NATIONAL RISK ASSESSMENT - 2018 6 </a:t>
            </a:r>
          </a:p>
        </p:txBody>
      </p:sp>
    </p:spTree>
    <p:extLst>
      <p:ext uri="{BB962C8B-B14F-4D97-AF65-F5344CB8AC3E}">
        <p14:creationId xmlns:p14="http://schemas.microsoft.com/office/powerpoint/2010/main" val="22419293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7603"/>
          </a:xfrm>
        </p:spPr>
        <p:txBody>
          <a:bodyPr>
            <a:normAutofit fontScale="90000"/>
          </a:bodyPr>
          <a:lstStyle/>
          <a:p>
            <a:r>
              <a:rPr lang="en-US" b="1" dirty="0" smtClean="0"/>
              <a:t/>
            </a:r>
            <a:br>
              <a:rPr lang="en-US" b="1" dirty="0" smtClean="0"/>
            </a:br>
            <a:r>
              <a:rPr lang="en-US" b="1" dirty="0" smtClean="0"/>
              <a:t>a</a:t>
            </a:r>
            <a:r>
              <a:rPr lang="en-US" b="1" dirty="0"/>
              <a:t>. Licensing, contracting and operation </a:t>
            </a:r>
            <a:r>
              <a:rPr lang="en-US" b="1" dirty="0" err="1" smtClean="0"/>
              <a:t>cont’nd</a:t>
            </a:r>
            <a:r>
              <a:rPr lang="en-US" b="1" dirty="0"/>
              <a:t/>
            </a:r>
            <a:br>
              <a:rPr lang="en-US" b="1" dirty="0"/>
            </a:br>
            <a:endParaRPr lang="en-US" dirty="0"/>
          </a:p>
        </p:txBody>
      </p:sp>
      <p:sp>
        <p:nvSpPr>
          <p:cNvPr id="3" name="Content Placeholder 2"/>
          <p:cNvSpPr>
            <a:spLocks noGrp="1"/>
          </p:cNvSpPr>
          <p:nvPr>
            <p:ph idx="1"/>
          </p:nvPr>
        </p:nvSpPr>
        <p:spPr/>
        <p:txBody>
          <a:bodyPr>
            <a:normAutofit/>
          </a:bodyPr>
          <a:lstStyle/>
          <a:p>
            <a:r>
              <a:rPr lang="en-US" sz="3300" dirty="0">
                <a:latin typeface="Garamond" panose="02020404030301010803" pitchFamily="18" charset="0"/>
              </a:rPr>
              <a:t>iv. Illegal participation of foreigners in small scale mining </a:t>
            </a:r>
          </a:p>
          <a:p>
            <a:r>
              <a:rPr lang="en-US" sz="3300" dirty="0">
                <a:latin typeface="Garamond" panose="02020404030301010803" pitchFamily="18" charset="0"/>
              </a:rPr>
              <a:t>v. Tax evasion, particularly with regards to capital gains tax </a:t>
            </a:r>
          </a:p>
          <a:p>
            <a:r>
              <a:rPr lang="en-US" sz="3300" dirty="0">
                <a:latin typeface="Garamond" panose="02020404030301010803" pitchFamily="18" charset="0"/>
              </a:rPr>
              <a:t>vi. Fragmentation of oversight responsibilities </a:t>
            </a:r>
          </a:p>
          <a:p>
            <a:r>
              <a:rPr lang="en-US" sz="3300" dirty="0">
                <a:latin typeface="Garamond" panose="02020404030301010803" pitchFamily="18" charset="0"/>
              </a:rPr>
              <a:t>vii. Legally acquired licensees operating illegally outside of their allocated concessions.</a:t>
            </a:r>
          </a:p>
          <a:p>
            <a:endParaRPr lang="en-US" sz="3300" dirty="0">
              <a:latin typeface="Garamond" panose="02020404030301010803" pitchFamily="18" charset="0"/>
            </a:endParaRPr>
          </a:p>
        </p:txBody>
      </p:sp>
    </p:spTree>
    <p:extLst>
      <p:ext uri="{BB962C8B-B14F-4D97-AF65-F5344CB8AC3E}">
        <p14:creationId xmlns:p14="http://schemas.microsoft.com/office/powerpoint/2010/main" val="237161159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33907"/>
          </a:xfrm>
        </p:spPr>
        <p:txBody>
          <a:bodyPr>
            <a:normAutofit fontScale="90000"/>
          </a:bodyPr>
          <a:lstStyle/>
          <a:p>
            <a:pPr algn="just"/>
            <a:r>
              <a:rPr lang="en-US" b="1" dirty="0">
                <a:latin typeface="Garamond" panose="02020404030301010803" pitchFamily="18" charset="0"/>
              </a:rPr>
              <a:t>b. Marketing and Export of Extractive Products</a:t>
            </a:r>
          </a:p>
        </p:txBody>
      </p:sp>
      <p:sp>
        <p:nvSpPr>
          <p:cNvPr id="3" name="Content Placeholder 2"/>
          <p:cNvSpPr>
            <a:spLocks noGrp="1"/>
          </p:cNvSpPr>
          <p:nvPr>
            <p:ph idx="1"/>
          </p:nvPr>
        </p:nvSpPr>
        <p:spPr/>
        <p:txBody>
          <a:bodyPr>
            <a:normAutofit/>
          </a:bodyPr>
          <a:lstStyle/>
          <a:p>
            <a:r>
              <a:rPr lang="en-US" sz="3300" dirty="0" err="1">
                <a:latin typeface="Garamond" panose="02020404030301010803" pitchFamily="18" charset="0"/>
              </a:rPr>
              <a:t>i</a:t>
            </a:r>
            <a:r>
              <a:rPr lang="en-US" sz="3300" dirty="0">
                <a:latin typeface="Garamond" panose="02020404030301010803" pitchFamily="18" charset="0"/>
              </a:rPr>
              <a:t>. Conflicting regulatory mandates </a:t>
            </a:r>
          </a:p>
          <a:p>
            <a:r>
              <a:rPr lang="en-US" sz="3300" dirty="0">
                <a:latin typeface="Garamond" panose="02020404030301010803" pitchFamily="18" charset="0"/>
              </a:rPr>
              <a:t>ii. Lack of effective due diligence on marketing or licensed buying agents </a:t>
            </a:r>
          </a:p>
          <a:p>
            <a:r>
              <a:rPr lang="en-US" sz="3300" dirty="0">
                <a:latin typeface="Garamond" panose="02020404030301010803" pitchFamily="18" charset="0"/>
              </a:rPr>
              <a:t>iii. Transfer pricing and trade </a:t>
            </a:r>
            <a:r>
              <a:rPr lang="en-US" sz="3300" dirty="0" err="1">
                <a:latin typeface="Garamond" panose="02020404030301010803" pitchFamily="18" charset="0"/>
              </a:rPr>
              <a:t>mis</a:t>
            </a:r>
            <a:r>
              <a:rPr lang="en-US" sz="3300" dirty="0">
                <a:latin typeface="Garamond" panose="02020404030301010803" pitchFamily="18" charset="0"/>
              </a:rPr>
              <a:t>-invoicing </a:t>
            </a:r>
          </a:p>
          <a:p>
            <a:r>
              <a:rPr lang="en-US" sz="3300" dirty="0">
                <a:latin typeface="Garamond" panose="02020404030301010803" pitchFamily="18" charset="0"/>
              </a:rPr>
              <a:t>iv. Poor coordination and absence of automatic information exchange among the regulatory agencies</a:t>
            </a:r>
          </a:p>
          <a:p>
            <a:r>
              <a:rPr lang="en-US" sz="3300" dirty="0">
                <a:latin typeface="Garamond" panose="02020404030301010803" pitchFamily="18" charset="0"/>
              </a:rPr>
              <a:t> v. Data inconsistencies and management – export data.</a:t>
            </a:r>
          </a:p>
        </p:txBody>
      </p:sp>
    </p:spTree>
    <p:extLst>
      <p:ext uri="{BB962C8B-B14F-4D97-AF65-F5344CB8AC3E}">
        <p14:creationId xmlns:p14="http://schemas.microsoft.com/office/powerpoint/2010/main" val="247464060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5035"/>
          </a:xfrm>
        </p:spPr>
        <p:txBody>
          <a:bodyPr>
            <a:normAutofit/>
          </a:bodyPr>
          <a:lstStyle/>
          <a:p>
            <a:r>
              <a:rPr lang="en-US" sz="4000" b="1" dirty="0">
                <a:latin typeface="Garamond" panose="02020404030301010803" pitchFamily="18" charset="0"/>
              </a:rPr>
              <a:t>DRUG TRAFFICKING</a:t>
            </a:r>
          </a:p>
        </p:txBody>
      </p:sp>
      <p:sp>
        <p:nvSpPr>
          <p:cNvPr id="3" name="Content Placeholder 2"/>
          <p:cNvSpPr>
            <a:spLocks noGrp="1"/>
          </p:cNvSpPr>
          <p:nvPr>
            <p:ph idx="1"/>
          </p:nvPr>
        </p:nvSpPr>
        <p:spPr>
          <a:xfrm>
            <a:off x="329184" y="1399032"/>
            <a:ext cx="11024616" cy="5276087"/>
          </a:xfrm>
        </p:spPr>
        <p:txBody>
          <a:bodyPr>
            <a:normAutofit lnSpcReduction="10000"/>
          </a:bodyPr>
          <a:lstStyle/>
          <a:p>
            <a:pPr marL="0" indent="0" algn="just">
              <a:buNone/>
            </a:pPr>
            <a:r>
              <a:rPr lang="en-US" sz="3300" dirty="0">
                <a:latin typeface="Garamond" panose="02020404030301010803" pitchFamily="18" charset="0"/>
              </a:rPr>
              <a:t>A number of drug trafficking cases occurred in the assessment period. Narcotic drug related arrests involved cocaine, heroin and marijuana. There was no information on the usage of narcotic drugs </a:t>
            </a:r>
            <a:r>
              <a:rPr lang="en-US" sz="3300" dirty="0" smtClean="0">
                <a:latin typeface="Garamond" panose="02020404030301010803" pitchFamily="18" charset="0"/>
              </a:rPr>
              <a:t>within </a:t>
            </a:r>
            <a:r>
              <a:rPr lang="en-US" sz="3300" dirty="0">
                <a:latin typeface="Garamond" panose="02020404030301010803" pitchFamily="18" charset="0"/>
              </a:rPr>
              <a:t>the country</a:t>
            </a:r>
            <a:r>
              <a:rPr lang="en-US" sz="3300" dirty="0" smtClean="0">
                <a:latin typeface="Garamond" panose="02020404030301010803" pitchFamily="18" charset="0"/>
              </a:rPr>
              <a:t>.</a:t>
            </a:r>
          </a:p>
          <a:p>
            <a:pPr marL="0" indent="0" algn="just">
              <a:buNone/>
            </a:pPr>
            <a:endParaRPr lang="en-US" sz="3300" dirty="0" smtClean="0">
              <a:latin typeface="Garamond" panose="02020404030301010803" pitchFamily="18" charset="0"/>
            </a:endParaRPr>
          </a:p>
          <a:p>
            <a:pPr marL="0" indent="0" algn="just">
              <a:buNone/>
            </a:pPr>
            <a:r>
              <a:rPr lang="en-US" sz="3400" dirty="0">
                <a:latin typeface="Garamond" panose="02020404030301010803" pitchFamily="18" charset="0"/>
              </a:rPr>
              <a:t>Available information indicates that Ghana is a transit point in the drug trade with inflows of cocaine from Latin America </a:t>
            </a:r>
            <a:r>
              <a:rPr lang="en-US" sz="3400" dirty="0" err="1">
                <a:latin typeface="Garamond" panose="02020404030301010803" pitchFamily="18" charset="0"/>
              </a:rPr>
              <a:t>en</a:t>
            </a:r>
            <a:r>
              <a:rPr lang="en-US" sz="3400" dirty="0">
                <a:latin typeface="Garamond" panose="02020404030301010803" pitchFamily="18" charset="0"/>
              </a:rPr>
              <a:t> route to Europe. According to the National Integrated Report (2012-2016), Ghana was a major hub for cocaine coming from Benin through Togo and Nigeria with the second route passing through Guinea.</a:t>
            </a:r>
          </a:p>
        </p:txBody>
      </p:sp>
    </p:spTree>
    <p:extLst>
      <p:ext uri="{BB962C8B-B14F-4D97-AF65-F5344CB8AC3E}">
        <p14:creationId xmlns:p14="http://schemas.microsoft.com/office/powerpoint/2010/main" val="287852791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Garamond" panose="02020404030301010803" pitchFamily="18" charset="0"/>
              </a:rPr>
              <a:t>DRUG </a:t>
            </a:r>
            <a:r>
              <a:rPr lang="en-US" b="1" dirty="0" smtClean="0">
                <a:latin typeface="Garamond" panose="02020404030301010803" pitchFamily="18" charset="0"/>
              </a:rPr>
              <a:t>TRAFFICKING </a:t>
            </a:r>
            <a:r>
              <a:rPr lang="en-US" b="1" dirty="0" err="1" smtClean="0">
                <a:latin typeface="Garamond" panose="02020404030301010803" pitchFamily="18" charset="0"/>
              </a:rPr>
              <a:t>cont’nd</a:t>
            </a:r>
            <a:endParaRPr lang="en-US" dirty="0"/>
          </a:p>
        </p:txBody>
      </p:sp>
      <p:sp>
        <p:nvSpPr>
          <p:cNvPr id="3" name="Content Placeholder 2"/>
          <p:cNvSpPr>
            <a:spLocks noGrp="1"/>
          </p:cNvSpPr>
          <p:nvPr>
            <p:ph idx="1"/>
          </p:nvPr>
        </p:nvSpPr>
        <p:spPr/>
        <p:txBody>
          <a:bodyPr>
            <a:normAutofit/>
          </a:bodyPr>
          <a:lstStyle/>
          <a:p>
            <a:pPr algn="just"/>
            <a:r>
              <a:rPr lang="en-US" sz="3300" dirty="0">
                <a:latin typeface="Garamond" panose="02020404030301010803" pitchFamily="18" charset="0"/>
              </a:rPr>
              <a:t>Marijuana cultivation is rife throughout the country especially along the forest belt. </a:t>
            </a:r>
            <a:endParaRPr lang="en-US" sz="3300" dirty="0" smtClean="0">
              <a:latin typeface="Garamond" panose="02020404030301010803" pitchFamily="18" charset="0"/>
            </a:endParaRPr>
          </a:p>
          <a:p>
            <a:pPr algn="just"/>
            <a:endParaRPr lang="en-US" sz="3300" dirty="0">
              <a:latin typeface="Garamond" panose="02020404030301010803" pitchFamily="18" charset="0"/>
            </a:endParaRPr>
          </a:p>
          <a:p>
            <a:pPr algn="just"/>
            <a:r>
              <a:rPr lang="en-US" sz="3300" dirty="0" smtClean="0">
                <a:latin typeface="Garamond" panose="02020404030301010803" pitchFamily="18" charset="0"/>
              </a:rPr>
              <a:t>Current </a:t>
            </a:r>
            <a:r>
              <a:rPr lang="en-US" sz="3300" dirty="0">
                <a:latin typeface="Garamond" panose="02020404030301010803" pitchFamily="18" charset="0"/>
              </a:rPr>
              <a:t>economic conditions have encouraged some farmers to go into marijuana cultivation. Most reported cases emanated from the Volta and </a:t>
            </a:r>
            <a:r>
              <a:rPr lang="en-US" sz="3300" dirty="0" err="1">
                <a:latin typeface="Garamond" panose="02020404030301010803" pitchFamily="18" charset="0"/>
              </a:rPr>
              <a:t>Brong</a:t>
            </a:r>
            <a:r>
              <a:rPr lang="en-US" sz="3300" dirty="0">
                <a:latin typeface="Garamond" panose="02020404030301010803" pitchFamily="18" charset="0"/>
              </a:rPr>
              <a:t> </a:t>
            </a:r>
            <a:r>
              <a:rPr lang="en-US" sz="3300" dirty="0" err="1">
                <a:latin typeface="Garamond" panose="02020404030301010803" pitchFamily="18" charset="0"/>
              </a:rPr>
              <a:t>Ahafo</a:t>
            </a:r>
            <a:r>
              <a:rPr lang="en-US" sz="3300" dirty="0">
                <a:latin typeface="Garamond" panose="02020404030301010803" pitchFamily="18" charset="0"/>
              </a:rPr>
              <a:t> Regions of Ghana.</a:t>
            </a:r>
          </a:p>
        </p:txBody>
      </p:sp>
    </p:spTree>
    <p:extLst>
      <p:ext uri="{BB962C8B-B14F-4D97-AF65-F5344CB8AC3E}">
        <p14:creationId xmlns:p14="http://schemas.microsoft.com/office/powerpoint/2010/main" val="278327948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7331"/>
          </a:xfrm>
        </p:spPr>
        <p:txBody>
          <a:bodyPr>
            <a:normAutofit/>
          </a:bodyPr>
          <a:lstStyle/>
          <a:p>
            <a:r>
              <a:rPr lang="en-US" b="1" dirty="0">
                <a:latin typeface="Garamond" panose="02020404030301010803" pitchFamily="18" charset="0"/>
              </a:rPr>
              <a:t>HUMAN TRAFFICKING</a:t>
            </a:r>
          </a:p>
        </p:txBody>
      </p:sp>
      <p:sp>
        <p:nvSpPr>
          <p:cNvPr id="3" name="Content Placeholder 2"/>
          <p:cNvSpPr>
            <a:spLocks noGrp="1"/>
          </p:cNvSpPr>
          <p:nvPr>
            <p:ph idx="1"/>
          </p:nvPr>
        </p:nvSpPr>
        <p:spPr>
          <a:xfrm>
            <a:off x="838200" y="1527048"/>
            <a:ext cx="10515600" cy="4649915"/>
          </a:xfrm>
        </p:spPr>
        <p:txBody>
          <a:bodyPr/>
          <a:lstStyle/>
          <a:p>
            <a:r>
              <a:rPr lang="en-US" sz="3300" dirty="0" err="1">
                <a:latin typeface="Garamond" panose="02020404030301010803" pitchFamily="18" charset="0"/>
              </a:rPr>
              <a:t>Defn</a:t>
            </a:r>
            <a:r>
              <a:rPr lang="en-US" sz="3300" dirty="0">
                <a:latin typeface="Garamond" panose="02020404030301010803" pitchFamily="18" charset="0"/>
              </a:rPr>
              <a:t>;</a:t>
            </a:r>
          </a:p>
          <a:p>
            <a:pPr marL="0" indent="0">
              <a:buNone/>
            </a:pPr>
            <a:r>
              <a:rPr lang="en-US" sz="3300" dirty="0">
                <a:latin typeface="Garamond" panose="02020404030301010803" pitchFamily="18" charset="0"/>
              </a:rPr>
              <a:t>This is the transfer, </a:t>
            </a:r>
            <a:r>
              <a:rPr lang="en-US" sz="3300" dirty="0" err="1">
                <a:latin typeface="Garamond" panose="02020404030301010803" pitchFamily="18" charset="0"/>
              </a:rPr>
              <a:t>habouring</a:t>
            </a:r>
            <a:r>
              <a:rPr lang="en-US" sz="3300" dirty="0">
                <a:latin typeface="Garamond" panose="02020404030301010803" pitchFamily="18" charset="0"/>
              </a:rPr>
              <a:t> or receipt of persons by means of threat or use of force or other forms of coercion, abduction or fraud, deception, the abuse of power or of position of vulnerability or of the giving or receiving of payment or benefit to achieve the consent of a person having the control over another person for the purpose of exploitation</a:t>
            </a:r>
            <a:r>
              <a:rPr lang="en-US" dirty="0"/>
              <a:t>.</a:t>
            </a:r>
          </a:p>
        </p:txBody>
      </p:sp>
    </p:spTree>
    <p:extLst>
      <p:ext uri="{BB962C8B-B14F-4D97-AF65-F5344CB8AC3E}">
        <p14:creationId xmlns:p14="http://schemas.microsoft.com/office/powerpoint/2010/main" val="353587292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Garamond" panose="02020404030301010803" pitchFamily="18" charset="0"/>
              </a:rPr>
              <a:t>HUMAN </a:t>
            </a:r>
            <a:r>
              <a:rPr lang="en-US" b="1" dirty="0" smtClean="0">
                <a:latin typeface="Garamond" panose="02020404030301010803" pitchFamily="18" charset="0"/>
              </a:rPr>
              <a:t>TRAFFICKING </a:t>
            </a:r>
            <a:r>
              <a:rPr lang="en-US" b="1" dirty="0" err="1" smtClean="0">
                <a:latin typeface="Garamond" panose="02020404030301010803" pitchFamily="18" charset="0"/>
              </a:rPr>
              <a:t>cont’nd</a:t>
            </a:r>
            <a:endParaRPr lang="en-US" dirty="0"/>
          </a:p>
        </p:txBody>
      </p:sp>
      <p:sp>
        <p:nvSpPr>
          <p:cNvPr id="3" name="Content Placeholder 2"/>
          <p:cNvSpPr>
            <a:spLocks noGrp="1"/>
          </p:cNvSpPr>
          <p:nvPr>
            <p:ph idx="1"/>
          </p:nvPr>
        </p:nvSpPr>
        <p:spPr>
          <a:xfrm>
            <a:off x="838200" y="1825624"/>
            <a:ext cx="10515600" cy="4940935"/>
          </a:xfrm>
        </p:spPr>
        <p:txBody>
          <a:bodyPr>
            <a:normAutofit/>
          </a:bodyPr>
          <a:lstStyle/>
          <a:p>
            <a:pPr algn="just"/>
            <a:r>
              <a:rPr lang="en-US" sz="3300" dirty="0">
                <a:latin typeface="Garamond" panose="02020404030301010803" pitchFamily="18" charset="0"/>
              </a:rPr>
              <a:t>The Anti-Human Trafficking Unit (AHTU) of the Ghana Police Service (GPS) conducted 238 investigations in 2015 including </a:t>
            </a:r>
            <a:r>
              <a:rPr lang="en-US" sz="3300" dirty="0" err="1">
                <a:latin typeface="Garamond" panose="02020404030301010803" pitchFamily="18" charset="0"/>
              </a:rPr>
              <a:t>labour</a:t>
            </a:r>
            <a:r>
              <a:rPr lang="en-US" sz="3300" dirty="0">
                <a:latin typeface="Garamond" panose="02020404030301010803" pitchFamily="18" charset="0"/>
              </a:rPr>
              <a:t> trafficking and sex trafficking</a:t>
            </a:r>
            <a:r>
              <a:rPr lang="en-US" dirty="0"/>
              <a:t>. </a:t>
            </a:r>
            <a:endParaRPr lang="en-US" dirty="0" smtClean="0"/>
          </a:p>
          <a:p>
            <a:pPr algn="just"/>
            <a:endParaRPr lang="en-US" dirty="0"/>
          </a:p>
          <a:p>
            <a:pPr algn="just"/>
            <a:r>
              <a:rPr lang="en-US" sz="3300" dirty="0">
                <a:latin typeface="Garamond" panose="02020404030301010803" pitchFamily="18" charset="0"/>
              </a:rPr>
              <a:t>The Ghana Immigration Service also reported investigating twenty (20) cases of suspected cross border trafficking in 2016 compared to ten (10) cases in 2015. </a:t>
            </a:r>
            <a:endParaRPr lang="en-US" sz="3300" dirty="0" smtClean="0">
              <a:latin typeface="Garamond" panose="02020404030301010803" pitchFamily="18" charset="0"/>
            </a:endParaRPr>
          </a:p>
          <a:p>
            <a:pPr algn="just"/>
            <a:r>
              <a:rPr lang="en-US" sz="3300" dirty="0" smtClean="0">
                <a:latin typeface="Garamond" panose="02020404030301010803" pitchFamily="18" charset="0"/>
              </a:rPr>
              <a:t>Eighteen </a:t>
            </a:r>
            <a:r>
              <a:rPr lang="en-US" sz="3300" dirty="0">
                <a:latin typeface="Garamond" panose="02020404030301010803" pitchFamily="18" charset="0"/>
              </a:rPr>
              <a:t>(18) of the reported cases involved suspected </a:t>
            </a:r>
            <a:r>
              <a:rPr lang="en-US" sz="3300" dirty="0" err="1">
                <a:latin typeface="Garamond" panose="02020404030301010803" pitchFamily="18" charset="0"/>
              </a:rPr>
              <a:t>labour</a:t>
            </a:r>
            <a:r>
              <a:rPr lang="en-US" sz="3300" dirty="0">
                <a:latin typeface="Garamond" panose="02020404030301010803" pitchFamily="18" charset="0"/>
              </a:rPr>
              <a:t> trafficking and three involved alleged sex trafficking</a:t>
            </a:r>
            <a:r>
              <a:rPr lang="en-US" dirty="0"/>
              <a:t>. </a:t>
            </a:r>
          </a:p>
        </p:txBody>
      </p:sp>
    </p:spTree>
    <p:extLst>
      <p:ext uri="{BB962C8B-B14F-4D97-AF65-F5344CB8AC3E}">
        <p14:creationId xmlns:p14="http://schemas.microsoft.com/office/powerpoint/2010/main" val="119429342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Garamond" panose="02020404030301010803" pitchFamily="18" charset="0"/>
              </a:rPr>
              <a:t>HUMAN TRAFFICKING </a:t>
            </a:r>
            <a:r>
              <a:rPr lang="en-US" b="1" dirty="0" err="1">
                <a:latin typeface="Garamond" panose="02020404030301010803" pitchFamily="18" charset="0"/>
              </a:rPr>
              <a:t>cont’nd</a:t>
            </a:r>
            <a:endParaRPr lang="en-US" dirty="0"/>
          </a:p>
        </p:txBody>
      </p:sp>
      <p:sp>
        <p:nvSpPr>
          <p:cNvPr id="3" name="Content Placeholder 2"/>
          <p:cNvSpPr>
            <a:spLocks noGrp="1"/>
          </p:cNvSpPr>
          <p:nvPr>
            <p:ph idx="1"/>
          </p:nvPr>
        </p:nvSpPr>
        <p:spPr/>
        <p:txBody>
          <a:bodyPr>
            <a:normAutofit lnSpcReduction="10000"/>
          </a:bodyPr>
          <a:lstStyle/>
          <a:p>
            <a:pPr algn="just"/>
            <a:r>
              <a:rPr lang="en-US" sz="3300" dirty="0">
                <a:latin typeface="Garamond" panose="02020404030301010803" pitchFamily="18" charset="0"/>
              </a:rPr>
              <a:t>Transnational cases consisted of outward and inward flow of victims. The outward cases were mostly the procurement of victims from Ghana to Turkey, Saudi Arabia, United Arab Emirates and other Arabian countries as domestic helps, artisans for </a:t>
            </a:r>
            <a:r>
              <a:rPr lang="en-US" sz="3300" dirty="0" smtClean="0">
                <a:latin typeface="Garamond" panose="02020404030301010803" pitchFamily="18" charset="0"/>
              </a:rPr>
              <a:t>construction </a:t>
            </a:r>
            <a:r>
              <a:rPr lang="en-US" sz="3300" dirty="0">
                <a:latin typeface="Garamond" panose="02020404030301010803" pitchFamily="18" charset="0"/>
              </a:rPr>
              <a:t>and for oil exploration activities</a:t>
            </a:r>
            <a:r>
              <a:rPr lang="en-US" dirty="0" smtClean="0"/>
              <a:t>.</a:t>
            </a:r>
          </a:p>
          <a:p>
            <a:pPr algn="just"/>
            <a:endParaRPr lang="en-US" dirty="0"/>
          </a:p>
          <a:p>
            <a:pPr algn="just"/>
            <a:r>
              <a:rPr lang="en-US" sz="3300" dirty="0">
                <a:latin typeface="Garamond" panose="02020404030301010803" pitchFamily="18" charset="0"/>
              </a:rPr>
              <a:t>With respect to the inward flows, nationals from foreign jurisdictions such as China, Bangladesh, Thailand and the West African sub region, were procured into the country by human traffickers.</a:t>
            </a:r>
          </a:p>
        </p:txBody>
      </p:sp>
    </p:spTree>
    <p:extLst>
      <p:ext uri="{BB962C8B-B14F-4D97-AF65-F5344CB8AC3E}">
        <p14:creationId xmlns:p14="http://schemas.microsoft.com/office/powerpoint/2010/main" val="89310776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Garamond" panose="02020404030301010803" pitchFamily="18" charset="0"/>
              </a:rPr>
              <a:t>HUMAN TRAFFICKING </a:t>
            </a:r>
            <a:r>
              <a:rPr lang="en-US" b="1" dirty="0" err="1">
                <a:latin typeface="Garamond" panose="02020404030301010803" pitchFamily="18" charset="0"/>
              </a:rPr>
              <a:t>cont’nd</a:t>
            </a:r>
            <a:endParaRPr lang="en-US" dirty="0"/>
          </a:p>
        </p:txBody>
      </p:sp>
      <p:sp>
        <p:nvSpPr>
          <p:cNvPr id="3" name="Content Placeholder 2"/>
          <p:cNvSpPr>
            <a:spLocks noGrp="1"/>
          </p:cNvSpPr>
          <p:nvPr>
            <p:ph idx="1"/>
          </p:nvPr>
        </p:nvSpPr>
        <p:spPr/>
        <p:txBody>
          <a:bodyPr>
            <a:normAutofit/>
          </a:bodyPr>
          <a:lstStyle/>
          <a:p>
            <a:r>
              <a:rPr lang="en-US" sz="3300" dirty="0">
                <a:latin typeface="Garamond" panose="02020404030301010803" pitchFamily="18" charset="0"/>
              </a:rPr>
              <a:t>Domestic cases of human trafficking were reported to be rife. Most of the victims were children recruited to work on farms and for fishing activities and for illegal mining (</a:t>
            </a:r>
            <a:r>
              <a:rPr lang="en-US" sz="3300" dirty="0" err="1">
                <a:latin typeface="Garamond" panose="02020404030301010803" pitchFamily="18" charset="0"/>
              </a:rPr>
              <a:t>galamsey</a:t>
            </a:r>
            <a:r>
              <a:rPr lang="en-US" sz="3300" dirty="0">
                <a:latin typeface="Garamond" panose="02020404030301010803" pitchFamily="18" charset="0"/>
              </a:rPr>
              <a:t>) activities.</a:t>
            </a:r>
          </a:p>
        </p:txBody>
      </p:sp>
    </p:spTree>
    <p:extLst>
      <p:ext uri="{BB962C8B-B14F-4D97-AF65-F5344CB8AC3E}">
        <p14:creationId xmlns:p14="http://schemas.microsoft.com/office/powerpoint/2010/main" val="338958402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Garamond" panose="02020404030301010803" pitchFamily="18" charset="0"/>
              </a:rPr>
              <a:t>MIGRANT SMUGGLING</a:t>
            </a:r>
          </a:p>
        </p:txBody>
      </p:sp>
      <p:sp>
        <p:nvSpPr>
          <p:cNvPr id="3" name="Content Placeholder 2"/>
          <p:cNvSpPr>
            <a:spLocks noGrp="1"/>
          </p:cNvSpPr>
          <p:nvPr>
            <p:ph idx="1"/>
          </p:nvPr>
        </p:nvSpPr>
        <p:spPr/>
        <p:txBody>
          <a:bodyPr>
            <a:normAutofit lnSpcReduction="10000"/>
          </a:bodyPr>
          <a:lstStyle/>
          <a:p>
            <a:pPr marL="0" indent="0" algn="just">
              <a:buNone/>
            </a:pPr>
            <a:r>
              <a:rPr lang="en-US" sz="3300" dirty="0">
                <a:latin typeface="Garamond" panose="02020404030301010803" pitchFamily="18" charset="0"/>
              </a:rPr>
              <a:t>Migrant smuggling is the procurement of illegal entry of a person who is neither a national nor a permanent resident, into a country</a:t>
            </a:r>
            <a:r>
              <a:rPr lang="en-US" sz="3300" dirty="0" smtClean="0">
                <a:latin typeface="Garamond" panose="02020404030301010803" pitchFamily="18" charset="0"/>
              </a:rPr>
              <a:t>.</a:t>
            </a:r>
          </a:p>
          <a:p>
            <a:pPr marL="0" indent="0" algn="just">
              <a:buNone/>
            </a:pPr>
            <a:r>
              <a:rPr lang="en-US" sz="3300" dirty="0" smtClean="0">
                <a:latin typeface="Garamond" panose="02020404030301010803" pitchFamily="18" charset="0"/>
              </a:rPr>
              <a:t>Interviews </a:t>
            </a:r>
            <a:r>
              <a:rPr lang="en-US" sz="3300" dirty="0">
                <a:latin typeface="Garamond" panose="02020404030301010803" pitchFamily="18" charset="0"/>
              </a:rPr>
              <a:t>conducted on the occurrence confirmed that the incidence is high and on the ascendency. </a:t>
            </a:r>
            <a:endParaRPr lang="en-US" sz="3300" dirty="0" smtClean="0">
              <a:latin typeface="Garamond" panose="02020404030301010803" pitchFamily="18" charset="0"/>
            </a:endParaRPr>
          </a:p>
          <a:p>
            <a:pPr marL="0" indent="0" algn="just">
              <a:buNone/>
            </a:pPr>
            <a:endParaRPr lang="en-US" sz="3300" dirty="0" smtClean="0">
              <a:latin typeface="Garamond" panose="02020404030301010803" pitchFamily="18" charset="0"/>
            </a:endParaRPr>
          </a:p>
          <a:p>
            <a:pPr marL="0" indent="0" algn="just">
              <a:buNone/>
            </a:pPr>
            <a:r>
              <a:rPr lang="en-US" sz="3300" dirty="0" smtClean="0">
                <a:latin typeface="Garamond" panose="02020404030301010803" pitchFamily="18" charset="0"/>
              </a:rPr>
              <a:t>Most </a:t>
            </a:r>
            <a:r>
              <a:rPr lang="en-US" sz="3300" dirty="0">
                <a:latin typeface="Garamond" panose="02020404030301010803" pitchFamily="18" charset="0"/>
              </a:rPr>
              <a:t>interviewees cited sports tournament and entertainers who go on international tours among others as most prevalent modus for migrant smuggling. </a:t>
            </a:r>
          </a:p>
        </p:txBody>
      </p:sp>
    </p:spTree>
    <p:extLst>
      <p:ext uri="{BB962C8B-B14F-4D97-AF65-F5344CB8AC3E}">
        <p14:creationId xmlns:p14="http://schemas.microsoft.com/office/powerpoint/2010/main" val="389781970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9899"/>
          </a:xfrm>
        </p:spPr>
        <p:txBody>
          <a:bodyPr>
            <a:normAutofit/>
          </a:bodyPr>
          <a:lstStyle/>
          <a:p>
            <a:r>
              <a:rPr lang="en-US" b="1" dirty="0">
                <a:latin typeface="Garamond" panose="02020404030301010803" pitchFamily="18" charset="0"/>
              </a:rPr>
              <a:t>TAX EVASION</a:t>
            </a:r>
          </a:p>
        </p:txBody>
      </p:sp>
      <p:sp>
        <p:nvSpPr>
          <p:cNvPr id="3" name="Content Placeholder 2"/>
          <p:cNvSpPr>
            <a:spLocks noGrp="1"/>
          </p:cNvSpPr>
          <p:nvPr>
            <p:ph idx="1"/>
          </p:nvPr>
        </p:nvSpPr>
        <p:spPr>
          <a:xfrm>
            <a:off x="417576" y="1335024"/>
            <a:ext cx="10515600" cy="4351338"/>
          </a:xfrm>
        </p:spPr>
        <p:txBody>
          <a:bodyPr>
            <a:normAutofit/>
          </a:bodyPr>
          <a:lstStyle/>
          <a:p>
            <a:pPr marL="0" indent="0" algn="just">
              <a:buNone/>
            </a:pPr>
            <a:r>
              <a:rPr lang="en-US" sz="3300" dirty="0">
                <a:latin typeface="Garamond" panose="02020404030301010803" pitchFamily="18" charset="0"/>
              </a:rPr>
              <a:t>Public perception of this predicate offence was higher than the figures obtained for the assessment. Information obtained from EOCO indicated that between 2013 -2014, twenty–one (21) cases were </a:t>
            </a:r>
            <a:r>
              <a:rPr lang="en-US" sz="3300" dirty="0" smtClean="0">
                <a:latin typeface="Garamond" panose="02020404030301010803" pitchFamily="18" charset="0"/>
              </a:rPr>
              <a:t>reported.</a:t>
            </a:r>
          </a:p>
          <a:p>
            <a:pPr marL="0" indent="0" algn="just">
              <a:buNone/>
            </a:pPr>
            <a:endParaRPr lang="en-US" sz="3300" dirty="0">
              <a:latin typeface="Garamond" panose="02020404030301010803" pitchFamily="18" charset="0"/>
            </a:endParaRPr>
          </a:p>
          <a:p>
            <a:pPr marL="0" indent="0" algn="just">
              <a:buNone/>
            </a:pPr>
            <a:r>
              <a:rPr lang="en-US" sz="3300" dirty="0">
                <a:latin typeface="Garamond" panose="02020404030301010803" pitchFamily="18" charset="0"/>
              </a:rPr>
              <a:t>Figures obtained from the GRA also showed that from 2013 to 2015 an amount of GHS666, 153,532.83 (US$175,303.561.00 </a:t>
            </a:r>
            <a:r>
              <a:rPr lang="en-US" sz="3300" dirty="0" err="1">
                <a:latin typeface="Garamond" panose="02020404030301010803" pitchFamily="18" charset="0"/>
              </a:rPr>
              <a:t>Equv</a:t>
            </a:r>
            <a:r>
              <a:rPr lang="en-US" sz="3300" dirty="0">
                <a:latin typeface="Garamond" panose="02020404030301010803" pitchFamily="18" charset="0"/>
              </a:rPr>
              <a:t>) was evaded in tax by medium tax payers nationwide</a:t>
            </a:r>
            <a:r>
              <a:rPr lang="en-US" sz="3600" dirty="0"/>
              <a:t>.</a:t>
            </a:r>
            <a:endParaRPr lang="en-US" sz="3300" dirty="0">
              <a:latin typeface="Garamond" panose="02020404030301010803" pitchFamily="18" charset="0"/>
            </a:endParaRPr>
          </a:p>
        </p:txBody>
      </p:sp>
    </p:spTree>
    <p:extLst>
      <p:ext uri="{BB962C8B-B14F-4D97-AF65-F5344CB8AC3E}">
        <p14:creationId xmlns:p14="http://schemas.microsoft.com/office/powerpoint/2010/main" val="421455692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Garamond" panose="02020404030301010803" pitchFamily="18" charset="0"/>
              </a:rPr>
              <a:t>TAX EVASION TABLE FOR MEDIUM TAX OFFICE -GRA</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92853571"/>
              </p:ext>
            </p:extLst>
          </p:nvPr>
        </p:nvGraphicFramePr>
        <p:xfrm>
          <a:off x="838200" y="1825625"/>
          <a:ext cx="10515600" cy="3776853"/>
        </p:xfrm>
        <a:graphic>
          <a:graphicData uri="http://schemas.openxmlformats.org/drawingml/2006/table">
            <a:tbl>
              <a:tblPr firstRow="1" bandRow="1">
                <a:tableStyleId>{5C22544A-7EE6-4342-B048-85BDC9FD1C3A}</a:tableStyleId>
              </a:tblPr>
              <a:tblGrid>
                <a:gridCol w="3505200"/>
                <a:gridCol w="3505200"/>
                <a:gridCol w="3505200"/>
              </a:tblGrid>
              <a:tr h="862711">
                <a:tc>
                  <a:txBody>
                    <a:bodyPr/>
                    <a:lstStyle/>
                    <a:p>
                      <a:r>
                        <a:rPr lang="en-US" sz="2400" dirty="0" smtClean="0"/>
                        <a:t>YEAR</a:t>
                      </a:r>
                      <a:endParaRPr lang="en-US" sz="2400" dirty="0"/>
                    </a:p>
                  </a:txBody>
                  <a:tcPr/>
                </a:tc>
                <a:tc>
                  <a:txBody>
                    <a:bodyPr/>
                    <a:lstStyle/>
                    <a:p>
                      <a:r>
                        <a:rPr lang="en-US" sz="2400" dirty="0" smtClean="0"/>
                        <a:t>NUMBER OF CASES</a:t>
                      </a:r>
                      <a:endParaRPr lang="en-US" sz="2400" dirty="0"/>
                    </a:p>
                  </a:txBody>
                  <a:tcPr/>
                </a:tc>
                <a:tc>
                  <a:txBody>
                    <a:bodyPr/>
                    <a:lstStyle/>
                    <a:p>
                      <a:r>
                        <a:rPr lang="en-US" sz="2400" dirty="0" smtClean="0"/>
                        <a:t>TAX EVASION TABLE FOR MEDIUM TAX OFFICE –GRA</a:t>
                      </a:r>
                      <a:endParaRPr lang="en-US" sz="2400" dirty="0"/>
                    </a:p>
                  </a:txBody>
                  <a:tcPr/>
                </a:tc>
              </a:tr>
              <a:tr h="862711">
                <a:tc>
                  <a:txBody>
                    <a:bodyPr/>
                    <a:lstStyle/>
                    <a:p>
                      <a:r>
                        <a:rPr lang="en-US" sz="2400" dirty="0" smtClean="0"/>
                        <a:t>2013</a:t>
                      </a:r>
                      <a:endParaRPr lang="en-US" sz="2400" dirty="0"/>
                    </a:p>
                  </a:txBody>
                  <a:tcPr/>
                </a:tc>
                <a:tc>
                  <a:txBody>
                    <a:bodyPr/>
                    <a:lstStyle/>
                    <a:p>
                      <a:r>
                        <a:rPr lang="en-US" sz="2400" dirty="0" smtClean="0"/>
                        <a:t>995</a:t>
                      </a:r>
                      <a:endParaRPr lang="en-US" sz="2400" dirty="0"/>
                    </a:p>
                  </a:txBody>
                  <a:tcPr/>
                </a:tc>
                <a:tc>
                  <a:txBody>
                    <a:bodyPr/>
                    <a:lstStyle/>
                    <a:p>
                      <a:r>
                        <a:rPr lang="en-US" sz="2400" dirty="0" smtClean="0"/>
                        <a:t>184,401,273.24 (US$54, 235,668.60Equiv) </a:t>
                      </a:r>
                      <a:endParaRPr lang="en-US" sz="2400" dirty="0"/>
                    </a:p>
                  </a:txBody>
                  <a:tcPr/>
                </a:tc>
              </a:tr>
              <a:tr h="862711">
                <a:tc>
                  <a:txBody>
                    <a:bodyPr/>
                    <a:lstStyle/>
                    <a:p>
                      <a:r>
                        <a:rPr lang="en-US" sz="2400" dirty="0" smtClean="0"/>
                        <a:t>2014</a:t>
                      </a: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smtClean="0"/>
                        <a:t>1136</a:t>
                      </a:r>
                    </a:p>
                    <a:p>
                      <a:endParaRPr lang="en-US" sz="2400" dirty="0"/>
                    </a:p>
                  </a:txBody>
                  <a:tcPr/>
                </a:tc>
                <a:tc>
                  <a:txBody>
                    <a:bodyPr/>
                    <a:lstStyle/>
                    <a:p>
                      <a:r>
                        <a:rPr lang="en-US" sz="2400" dirty="0" smtClean="0"/>
                        <a:t>222,372,612.22 (US$58,519,108.47 </a:t>
                      </a:r>
                      <a:r>
                        <a:rPr lang="en-US" sz="2400" dirty="0" err="1" smtClean="0"/>
                        <a:t>Equiv</a:t>
                      </a:r>
                      <a:r>
                        <a:rPr lang="en-US" sz="2400" dirty="0" smtClean="0"/>
                        <a:t>)</a:t>
                      </a:r>
                      <a:endParaRPr lang="en-US" sz="2400" dirty="0"/>
                    </a:p>
                  </a:txBody>
                  <a:tcPr/>
                </a:tc>
              </a:tr>
              <a:tr h="862711">
                <a:tc>
                  <a:txBody>
                    <a:bodyPr/>
                    <a:lstStyle/>
                    <a:p>
                      <a:r>
                        <a:rPr lang="en-US" sz="2400" dirty="0" smtClean="0"/>
                        <a:t>2015</a:t>
                      </a: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smtClean="0"/>
                        <a:t>1382</a:t>
                      </a:r>
                    </a:p>
                    <a:p>
                      <a:endParaRPr lang="en-US" sz="2400" dirty="0"/>
                    </a:p>
                  </a:txBody>
                  <a:tcPr/>
                </a:tc>
                <a:tc>
                  <a:txBody>
                    <a:bodyPr/>
                    <a:lstStyle/>
                    <a:p>
                      <a:r>
                        <a:rPr lang="en-US" sz="2400" dirty="0" smtClean="0"/>
                        <a:t>259,379,647.83 (US$ 68,257,802.06 </a:t>
                      </a:r>
                      <a:r>
                        <a:rPr lang="en-US" sz="2400" dirty="0" err="1" smtClean="0"/>
                        <a:t>Equiv</a:t>
                      </a:r>
                      <a:r>
                        <a:rPr lang="en-US" sz="2400" dirty="0" smtClean="0"/>
                        <a:t>) </a:t>
                      </a:r>
                      <a:endParaRPr lang="en-US" sz="2400" dirty="0"/>
                    </a:p>
                  </a:txBody>
                  <a:tcPr/>
                </a:tc>
              </a:tr>
            </a:tbl>
          </a:graphicData>
        </a:graphic>
      </p:graphicFrame>
    </p:spTree>
    <p:extLst>
      <p:ext uri="{BB962C8B-B14F-4D97-AF65-F5344CB8AC3E}">
        <p14:creationId xmlns:p14="http://schemas.microsoft.com/office/powerpoint/2010/main" val="73986660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Garamond" panose="02020404030301010803" pitchFamily="18" charset="0"/>
              </a:rPr>
              <a:t>RANKING OF THREAT ASSESSMENT IN A PECKING ORDER</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05958700"/>
              </p:ext>
            </p:extLst>
          </p:nvPr>
        </p:nvGraphicFramePr>
        <p:xfrm>
          <a:off x="838200" y="1668937"/>
          <a:ext cx="10262616" cy="5255908"/>
        </p:xfrm>
        <a:graphic>
          <a:graphicData uri="http://schemas.openxmlformats.org/drawingml/2006/table">
            <a:tbl>
              <a:tblPr firstRow="1" bandRow="1">
                <a:tableStyleId>{5C22544A-7EE6-4342-B048-85BDC9FD1C3A}</a:tableStyleId>
              </a:tblPr>
              <a:tblGrid>
                <a:gridCol w="3420872"/>
                <a:gridCol w="4280850"/>
                <a:gridCol w="2560894"/>
              </a:tblGrid>
              <a:tr h="360551">
                <a:tc>
                  <a:txBody>
                    <a:bodyPr/>
                    <a:lstStyle/>
                    <a:p>
                      <a:r>
                        <a:rPr lang="en-US" dirty="0" smtClean="0"/>
                        <a:t>S/N</a:t>
                      </a:r>
                      <a:endParaRPr lang="en-US" dirty="0"/>
                    </a:p>
                  </a:txBody>
                  <a:tcPr/>
                </a:tc>
                <a:tc>
                  <a:txBody>
                    <a:bodyPr/>
                    <a:lstStyle/>
                    <a:p>
                      <a:r>
                        <a:rPr lang="en-US" dirty="0" smtClean="0"/>
                        <a:t>Predicate offence</a:t>
                      </a:r>
                      <a:endParaRPr lang="en-US" dirty="0"/>
                    </a:p>
                  </a:txBody>
                  <a:tcPr/>
                </a:tc>
                <a:tc>
                  <a:txBody>
                    <a:bodyPr/>
                    <a:lstStyle/>
                    <a:p>
                      <a:r>
                        <a:rPr lang="en-US" dirty="0" smtClean="0"/>
                        <a:t>Rating</a:t>
                      </a:r>
                      <a:endParaRPr lang="en-US" dirty="0"/>
                    </a:p>
                  </a:txBody>
                  <a:tcPr/>
                </a:tc>
              </a:tr>
              <a:tr h="811240">
                <a:tc>
                  <a:txBody>
                    <a:bodyPr/>
                    <a:lstStyle/>
                    <a:p>
                      <a:r>
                        <a:rPr lang="en-US" sz="2800" dirty="0" smtClean="0"/>
                        <a:t>1</a:t>
                      </a:r>
                      <a:endParaRPr lang="en-US" sz="2800" dirty="0"/>
                    </a:p>
                  </a:txBody>
                  <a:tcPr/>
                </a:tc>
                <a:tc>
                  <a:txBody>
                    <a:bodyPr/>
                    <a:lstStyle/>
                    <a:p>
                      <a:r>
                        <a:rPr lang="en-US" sz="2800" dirty="0" smtClean="0"/>
                        <a:t>Fraud</a:t>
                      </a:r>
                      <a:endParaRPr lang="en-US" sz="2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smtClean="0"/>
                        <a:t>1</a:t>
                      </a:r>
                    </a:p>
                    <a:p>
                      <a:endParaRPr lang="en-US" sz="2400" dirty="0"/>
                    </a:p>
                  </a:txBody>
                  <a:tcPr/>
                </a:tc>
              </a:tr>
              <a:tr h="510781">
                <a:tc>
                  <a:txBody>
                    <a:bodyPr/>
                    <a:lstStyle/>
                    <a:p>
                      <a:r>
                        <a:rPr lang="en-US" sz="2800" dirty="0" smtClean="0"/>
                        <a:t>2</a:t>
                      </a:r>
                      <a:endParaRPr lang="en-US" sz="2800" dirty="0"/>
                    </a:p>
                  </a:txBody>
                  <a:tcPr/>
                </a:tc>
                <a:tc>
                  <a:txBody>
                    <a:bodyPr/>
                    <a:lstStyle/>
                    <a:p>
                      <a:r>
                        <a:rPr lang="en-US" sz="2800" dirty="0" smtClean="0"/>
                        <a:t>Stealing </a:t>
                      </a:r>
                      <a:endParaRPr lang="en-US" sz="2800" dirty="0"/>
                    </a:p>
                  </a:txBody>
                  <a:tcPr/>
                </a:tc>
                <a:tc>
                  <a:txBody>
                    <a:bodyPr/>
                    <a:lstStyle/>
                    <a:p>
                      <a:endParaRPr lang="en-US" sz="2400" dirty="0"/>
                    </a:p>
                  </a:txBody>
                  <a:tcPr/>
                </a:tc>
              </a:tr>
              <a:tr h="561988">
                <a:tc>
                  <a:txBody>
                    <a:bodyPr/>
                    <a:lstStyle/>
                    <a:p>
                      <a:r>
                        <a:rPr lang="en-US" sz="2800" dirty="0" smtClean="0"/>
                        <a:t>3</a:t>
                      </a:r>
                      <a:endParaRPr lang="en-US" sz="2800" dirty="0"/>
                    </a:p>
                  </a:txBody>
                  <a:tcPr/>
                </a:tc>
                <a:tc>
                  <a:txBody>
                    <a:bodyPr/>
                    <a:lstStyle/>
                    <a:p>
                      <a:r>
                        <a:rPr lang="en-US" sz="2800" dirty="0" smtClean="0"/>
                        <a:t>Bribery and Corruption</a:t>
                      </a:r>
                      <a:endParaRPr lang="en-US" sz="2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smtClean="0"/>
                        <a:t>3 </a:t>
                      </a:r>
                    </a:p>
                  </a:txBody>
                  <a:tcPr/>
                </a:tc>
              </a:tr>
              <a:tr h="510781">
                <a:tc>
                  <a:txBody>
                    <a:bodyPr/>
                    <a:lstStyle/>
                    <a:p>
                      <a:r>
                        <a:rPr lang="en-US" sz="2800" dirty="0" smtClean="0"/>
                        <a:t>4</a:t>
                      </a:r>
                      <a:endParaRPr lang="en-US" sz="2800" dirty="0"/>
                    </a:p>
                  </a:txBody>
                  <a:tcPr/>
                </a:tc>
                <a:tc>
                  <a:txBody>
                    <a:bodyPr/>
                    <a:lstStyle/>
                    <a:p>
                      <a:r>
                        <a:rPr lang="en-US" sz="2800" dirty="0" smtClean="0"/>
                        <a:t>Robbery</a:t>
                      </a:r>
                      <a:endParaRPr lang="en-US" sz="2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smtClean="0"/>
                        <a:t>4 </a:t>
                      </a:r>
                    </a:p>
                  </a:txBody>
                  <a:tcPr/>
                </a:tc>
              </a:tr>
              <a:tr h="811240">
                <a:tc>
                  <a:txBody>
                    <a:bodyPr/>
                    <a:lstStyle/>
                    <a:p>
                      <a:r>
                        <a:rPr lang="en-US" sz="2800" dirty="0" smtClean="0"/>
                        <a:t>5 </a:t>
                      </a:r>
                      <a:endParaRPr lang="en-US" sz="2800" dirty="0"/>
                    </a:p>
                  </a:txBody>
                  <a:tcPr/>
                </a:tc>
                <a:tc>
                  <a:txBody>
                    <a:bodyPr/>
                    <a:lstStyle/>
                    <a:p>
                      <a:r>
                        <a:rPr lang="en-US" sz="2800" dirty="0" smtClean="0"/>
                        <a:t>Tax evasion</a:t>
                      </a:r>
                      <a:endParaRPr lang="en-US" sz="2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smtClean="0"/>
                        <a:t>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smtClean="0"/>
                    </a:p>
                  </a:txBody>
                  <a:tcPr/>
                </a:tc>
              </a:tr>
              <a:tr h="811240">
                <a:tc>
                  <a:txBody>
                    <a:bodyPr/>
                    <a:lstStyle/>
                    <a:p>
                      <a:r>
                        <a:rPr lang="en-US" sz="2800" dirty="0" smtClean="0"/>
                        <a:t>6</a:t>
                      </a:r>
                      <a:endParaRPr lang="en-US" sz="2800" dirty="0"/>
                    </a:p>
                  </a:txBody>
                  <a:tcPr/>
                </a:tc>
                <a:tc>
                  <a:txBody>
                    <a:bodyPr/>
                    <a:lstStyle/>
                    <a:p>
                      <a:r>
                        <a:rPr lang="en-US" sz="2800" dirty="0" smtClean="0"/>
                        <a:t>Drug trafficking</a:t>
                      </a:r>
                      <a:endParaRPr lang="en-US" sz="2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smtClean="0"/>
                        <a:t>6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smtClean="0"/>
                    </a:p>
                  </a:txBody>
                  <a:tcPr/>
                </a:tc>
              </a:tr>
              <a:tr h="811240">
                <a:tc>
                  <a:txBody>
                    <a:bodyPr/>
                    <a:lstStyle/>
                    <a:p>
                      <a:r>
                        <a:rPr lang="en-US" sz="2800" dirty="0" smtClean="0"/>
                        <a:t>7</a:t>
                      </a:r>
                      <a:endParaRPr lang="en-US" sz="2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smtClean="0"/>
                        <a:t>Smuggling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smtClean="0"/>
                        <a:t>7</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smtClean="0"/>
                    </a:p>
                  </a:txBody>
                  <a:tcPr/>
                </a:tc>
              </a:tr>
            </a:tbl>
          </a:graphicData>
        </a:graphic>
      </p:graphicFrame>
    </p:spTree>
    <p:extLst>
      <p:ext uri="{BB962C8B-B14F-4D97-AF65-F5344CB8AC3E}">
        <p14:creationId xmlns:p14="http://schemas.microsoft.com/office/powerpoint/2010/main" val="124689956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5442</TotalTime>
  <Words>2219</Words>
  <Application>Microsoft Office PowerPoint</Application>
  <PresentationFormat>Widescreen</PresentationFormat>
  <Paragraphs>206</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Calibri Light</vt:lpstr>
      <vt:lpstr>Garamond</vt:lpstr>
      <vt:lpstr>Office Theme</vt:lpstr>
      <vt:lpstr>    </vt:lpstr>
      <vt:lpstr>PowerPoint Presentation</vt:lpstr>
      <vt:lpstr>INTRODUCTION</vt:lpstr>
      <vt:lpstr>NATIONAL RISK ASSESSMENT </vt:lpstr>
      <vt:lpstr>NATIONAL RISK ASSESSMENT (2018)</vt:lpstr>
      <vt:lpstr>NATIONAL RISK ASSESSMENT (2018)</vt:lpstr>
      <vt:lpstr> Current and Emerging ML/TF Risks in Ghana.   </vt:lpstr>
      <vt:lpstr>Fraud</vt:lpstr>
      <vt:lpstr>Romance fraud</vt:lpstr>
      <vt:lpstr>Advanced fee fraud</vt:lpstr>
      <vt:lpstr>Gold scams</vt:lpstr>
      <vt:lpstr>Gold scams</vt:lpstr>
      <vt:lpstr>Gold scams</vt:lpstr>
      <vt:lpstr>STEALING (THEFT)</vt:lpstr>
      <vt:lpstr>STEALING (THEFT)</vt:lpstr>
      <vt:lpstr>BRIBERY AND CORRUPTION</vt:lpstr>
      <vt:lpstr> Corruption is manifested through the following dominant techniques:  </vt:lpstr>
      <vt:lpstr>From collation of Country reports of survey conducted in GIABA member States, responses from Ghana were rated as follows: </vt:lpstr>
      <vt:lpstr>Examples of corruption</vt:lpstr>
      <vt:lpstr>Examples of corruption cont’n</vt:lpstr>
      <vt:lpstr>COCOA SECTOR</vt:lpstr>
      <vt:lpstr>HOTEL SECTOR </vt:lpstr>
      <vt:lpstr>EXTRACTIVE SECTOR </vt:lpstr>
      <vt:lpstr>The specific ML/TF risks have been categorized below:</vt:lpstr>
      <vt:lpstr> a. Licensing, contracting and operation cont’nd </vt:lpstr>
      <vt:lpstr>b. Marketing and Export of Extractive Products</vt:lpstr>
      <vt:lpstr>DRUG TRAFFICKING</vt:lpstr>
      <vt:lpstr>DRUG TRAFFICKING cont’nd</vt:lpstr>
      <vt:lpstr>HUMAN TRAFFICKING</vt:lpstr>
      <vt:lpstr>HUMAN TRAFFICKING cont’nd</vt:lpstr>
      <vt:lpstr>HUMAN TRAFFICKING cont’nd</vt:lpstr>
      <vt:lpstr>HUMAN TRAFFICKING cont’nd</vt:lpstr>
      <vt:lpstr>MIGRANT SMUGGLING</vt:lpstr>
      <vt:lpstr>TAX EVASION</vt:lpstr>
      <vt:lpstr>TAX EVASION TABLE FOR MEDIUM TAX OFFICE -GRA</vt:lpstr>
      <vt:lpstr>RANKING OF THREAT ASSESSMENT IN A PECKING ORDER</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Current and Emerging   ML/TF Risks in   Ghana.</dc:title>
  <dc:creator>ARB</dc:creator>
  <cp:lastModifiedBy>ARB</cp:lastModifiedBy>
  <cp:revision>32</cp:revision>
  <dcterms:created xsi:type="dcterms:W3CDTF">2020-03-02T10:51:51Z</dcterms:created>
  <dcterms:modified xsi:type="dcterms:W3CDTF">2020-03-23T20:34:10Z</dcterms:modified>
</cp:coreProperties>
</file>